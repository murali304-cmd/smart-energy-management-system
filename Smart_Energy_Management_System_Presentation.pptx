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presentation on the Smart Energy Management System (SEMS). This system bridges cutting-edge deep learning, reinforcement learning, and real battery storage hardware to optimize household and commercial microgrids. We solve renewable intermittency, dynamic electricity tariffs, and battery longevity with deterministic physical guarantees and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energy management either relies on static rule-based heuristics that miss dynamic arbitrage or black-box algorithms that violate physical safety constraints. SEMS solves this by layering predictive ML, reinforcement learning, and hardware APIs behind a deterministic physical allocation layer.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four-tier architectural pipeline: Raw telemetry and weather inputs are parsed through our preprocessing pipelines into three specialized neural and gradient-boosted models. The DQN agent recommends high-level strategic postures, which are executed deterministically by the Energy Allocator. Finally, XAI decodes the logic for the FastAPI server and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differentiator of SEMS is its native integration with Enode API. Instead of assuming ideal simulated storage, we fetch actual telemetry from Tesla Powerwalls or Enphase units. We enforce strict cell safety rules: 20% minimum reserve to prevent deep discharge degradation, and a 95% round-trip efficiency penalty during chemical transfer.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single power dispatch decision in SEMS is bound by the first law of thermodynamics. The system strictly prevents physically impossible states like simultaneous charging and discharging, and enforces zero-error balance audits on every 15-minute dispatch cycle.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energy dashboards display arbitrary static battery hours. SEMS computes true chemical energy in real-time factoring in inverter efficiency and minimum SOC buffer. This gives users honest, actionable blackout security metrics.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solar generation engine uses a 14-feature deep MLP in PyTorch. By combining thermodynamic weather indices like heat index with cyclical trigonometric time encodings, it captures cloud-cover attenuation and thermal derating.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prediction is powered by a 2-layer LSTM network with lag features and rolling statistics. Crucially, we supplement point forecasts with probabilistic quantile bounds (P10, P50, P90) so our dispatch planner can guarantee reserve power even under heavy demand surges.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Tariff forecasting is critical because modern utility bills are highly non-linear. Our XGBoost regressor achieves an impressive 0.9848 R² score, allowing the system to forecast exactly when consumption threatens to cross into higher TNEB billing tiers.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Deep Q-Network agent balances three competing goals: reducing electricity bills, avoiding battery cycle wear, and maximizing solar self-consumption. After 300 training episodes, the agent converged to a stable positive reward of +86.85.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feature for user trust is Explainable AI. Instead of presenting raw numbers, SEMS provides plain English explanations for every dispatch decision, stating exactly why the battery discharged or why solar was exported.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core energy dispatch, SEMS includes a comprehensive smart grid suite: EV charging optimization, smart appliance load-shifting, peer-to-peer microgrid trading, anomaly detection, and real-time carbon tracking.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software architecture combines an async FastAPI backend with a responsive, glassmorphic dashboard. Users can monitor real-time energy flows, interact with the AI Copilot, or configure battery operating modes seamlessly.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SEMS has undergone extensive automated testing with Pytest. We test the entire stack from physical conservation laws and battery manager efficiency limits down to API authentication and XAI text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Smart Energy Management System provides an end-to-end, production-ready microgrid platform. It delivers 25-40% electricity savings, prolongs battery asset life, and paves the way toward Virtual Power Plants and Vehicle-to-Grid integration.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151C2E"/>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88720" y="1188720"/>
            <a:ext cx="3108960" cy="365760"/>
          </a:xfrm>
          <a:prstGeom prst="roundRect">
            <a:avLst/>
          </a:prstGeom>
          <a:solidFill>
            <a:srgbClr val="0E2E3B"/>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B6D4"/>
                </a:solidFill>
              </a:defRPr>
            </a:pPr>
            <a:r>
              <a:t>⚡ NEXT-GEN SMART MICROGRID</a:t>
            </a:r>
          </a:p>
        </p:txBody>
      </p:sp>
      <p:sp>
        <p:nvSpPr>
          <p:cNvPr id="4" name="TextBox 3"/>
          <p:cNvSpPr txBox="1"/>
          <p:nvPr/>
        </p:nvSpPr>
        <p:spPr>
          <a:xfrm>
            <a:off x="1188720" y="1737360"/>
            <a:ext cx="9601200" cy="1645920"/>
          </a:xfrm>
          <a:prstGeom prst="rect">
            <a:avLst/>
          </a:prstGeom>
          <a:noFill/>
        </p:spPr>
        <p:txBody>
          <a:bodyPr wrap="square">
            <a:spAutoFit/>
          </a:bodyPr>
          <a:lstStyle/>
          <a:p>
            <a:pPr>
              <a:defRPr sz="3600" b="1">
                <a:solidFill>
                  <a:srgbClr val="F8FAFC"/>
                </a:solidFill>
              </a:defRPr>
            </a:pPr>
            <a:r>
              <a:t>Smart Energy Management System</a:t>
            </a:r>
          </a:p>
          <a:p>
            <a:pPr>
              <a:defRPr sz="1800">
                <a:solidFill>
                  <a:srgbClr val="F59E0B"/>
                </a:solidFill>
              </a:defRPr>
            </a:pPr>
            <a:r>
              <a:t>AI-Driven Microgrid Optimization with Real Battery API, Deep Q-Learning &amp; Explainable AI</a:t>
            </a:r>
          </a:p>
        </p:txBody>
      </p:sp>
      <p:sp>
        <p:nvSpPr>
          <p:cNvPr id="5" name="TextBox 4"/>
          <p:cNvSpPr txBox="1"/>
          <p:nvPr/>
        </p:nvSpPr>
        <p:spPr>
          <a:xfrm>
            <a:off x="1188720" y="3474720"/>
            <a:ext cx="5486400" cy="2011680"/>
          </a:xfrm>
          <a:prstGeom prst="rect">
            <a:avLst/>
          </a:prstGeom>
          <a:noFill/>
        </p:spPr>
        <p:txBody>
          <a:bodyPr wrap="square">
            <a:spAutoFit/>
          </a:bodyPr>
          <a:lstStyle/>
          <a:p>
            <a:pPr>
              <a:spcBef>
                <a:spcPts val="600"/>
              </a:spcBef>
              <a:defRPr sz="1200">
                <a:solidFill>
                  <a:srgbClr val="CBD5E1"/>
                </a:solidFill>
              </a:defRPr>
            </a:pPr>
            <a:r>
              <a:t>🔋 Real Battery Hardware Telemetry (Enode API / Tesla / Enphase)</a:t>
            </a:r>
          </a:p>
          <a:p>
            <a:pPr>
              <a:spcBef>
                <a:spcPts val="600"/>
              </a:spcBef>
              <a:defRPr sz="1200">
                <a:solidFill>
                  <a:srgbClr val="CBD5E1"/>
                </a:solidFill>
              </a:defRPr>
            </a:pPr>
            <a:r>
              <a:t>☀️ Multi-Model AI Ensemble (XGBoost Tariff, MLP Solar, LSTM Load)</a:t>
            </a:r>
          </a:p>
          <a:p>
            <a:pPr>
              <a:spcBef>
                <a:spcPts val="600"/>
              </a:spcBef>
              <a:defRPr sz="1200">
                <a:solidFill>
                  <a:srgbClr val="CBD5E1"/>
                </a:solidFill>
              </a:defRPr>
            </a:pPr>
            <a:r>
              <a:t>🧠 Deep Q-Network (DQN) Dynamic Dispatch &amp; Peak Shaving</a:t>
            </a:r>
          </a:p>
          <a:p>
            <a:pPr>
              <a:spcBef>
                <a:spcPts val="600"/>
              </a:spcBef>
              <a:defRPr sz="1200">
                <a:solidFill>
                  <a:srgbClr val="CBD5E1"/>
                </a:solidFill>
              </a:defRPr>
            </a:pPr>
            <a:r>
              <a:t>⚖️ Strict Physical Energy Conservation Law Verification</a:t>
            </a:r>
          </a:p>
          <a:p>
            <a:pPr>
              <a:spcBef>
                <a:spcPts val="600"/>
              </a:spcBef>
              <a:defRPr sz="1200">
                <a:solidFill>
                  <a:srgbClr val="CBD5E1"/>
                </a:solidFill>
              </a:defRPr>
            </a:pPr>
            <a:r>
              <a:t>🔍 Human-in-the-Loop Explainable AI (SHAP &amp; Decision Transparency)</a:t>
            </a:r>
          </a:p>
        </p:txBody>
      </p:sp>
      <p:sp>
        <p:nvSpPr>
          <p:cNvPr id="6" name="Rounded Rectangle 5"/>
          <p:cNvSpPr/>
          <p:nvPr/>
        </p:nvSpPr>
        <p:spPr>
          <a:xfrm>
            <a:off x="7132320" y="3383280"/>
            <a:ext cx="1920240" cy="109728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59" y="3456432"/>
            <a:ext cx="1737360" cy="950976"/>
          </a:xfrm>
          <a:prstGeom prst="rect">
            <a:avLst/>
          </a:prstGeom>
          <a:noFill/>
        </p:spPr>
        <p:txBody>
          <a:bodyPr wrap="square" lIns="0" tIns="0" rIns="0" bIns="0">
            <a:spAutoFit/>
          </a:bodyPr>
          <a:lstStyle/>
          <a:p>
            <a:pPr algn="ctr">
              <a:defRPr sz="1800" b="1">
                <a:solidFill>
                  <a:srgbClr val="06B6D4"/>
                </a:solidFill>
              </a:defRPr>
            </a:pPr>
            <a:r>
              <a:t>0.9848</a:t>
            </a:r>
          </a:p>
          <a:p>
            <a:pPr algn="ctr">
              <a:defRPr sz="900" b="1">
                <a:solidFill>
                  <a:srgbClr val="94A3B8"/>
                </a:solidFill>
              </a:defRPr>
            </a:pPr>
            <a:r>
              <a:t>TARIFF MODEL R²</a:t>
            </a:r>
          </a:p>
        </p:txBody>
      </p:sp>
      <p:sp>
        <p:nvSpPr>
          <p:cNvPr id="8" name="Rounded Rectangle 7"/>
          <p:cNvSpPr/>
          <p:nvPr/>
        </p:nvSpPr>
        <p:spPr>
          <a:xfrm>
            <a:off x="9235440" y="3383280"/>
            <a:ext cx="1920240" cy="10972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0" y="3456432"/>
            <a:ext cx="1737360" cy="950976"/>
          </a:xfrm>
          <a:prstGeom prst="rect">
            <a:avLst/>
          </a:prstGeom>
          <a:noFill/>
        </p:spPr>
        <p:txBody>
          <a:bodyPr wrap="square" lIns="0" tIns="0" rIns="0" bIns="0">
            <a:spAutoFit/>
          </a:bodyPr>
          <a:lstStyle/>
          <a:p>
            <a:pPr algn="ctr">
              <a:defRPr sz="1800" b="1">
                <a:solidFill>
                  <a:srgbClr val="10B981"/>
                </a:solidFill>
              </a:defRPr>
            </a:pPr>
            <a:r>
              <a:t>20.0 kWh</a:t>
            </a:r>
          </a:p>
          <a:p>
            <a:pPr algn="ctr">
              <a:defRPr sz="900" b="1">
                <a:solidFill>
                  <a:srgbClr val="94A3B8"/>
                </a:solidFill>
              </a:defRPr>
            </a:pPr>
            <a:r>
              <a:t>BESS CAPACITY</a:t>
            </a:r>
          </a:p>
        </p:txBody>
      </p:sp>
      <p:sp>
        <p:nvSpPr>
          <p:cNvPr id="10" name="Rounded Rectangle 9"/>
          <p:cNvSpPr/>
          <p:nvPr/>
        </p:nvSpPr>
        <p:spPr>
          <a:xfrm>
            <a:off x="7132320" y="4663440"/>
            <a:ext cx="1920240" cy="109728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59" y="4736592"/>
            <a:ext cx="1737360" cy="950976"/>
          </a:xfrm>
          <a:prstGeom prst="rect">
            <a:avLst/>
          </a:prstGeom>
          <a:noFill/>
        </p:spPr>
        <p:txBody>
          <a:bodyPr wrap="square" lIns="0" tIns="0" rIns="0" bIns="0">
            <a:spAutoFit/>
          </a:bodyPr>
          <a:lstStyle/>
          <a:p>
            <a:pPr algn="ctr">
              <a:defRPr sz="1800" b="1">
                <a:solidFill>
                  <a:srgbClr val="F59E0B"/>
                </a:solidFill>
              </a:defRPr>
            </a:pPr>
            <a:r>
              <a:t>100% Strict</a:t>
            </a:r>
          </a:p>
          <a:p>
            <a:pPr algn="ctr">
              <a:defRPr sz="900" b="1">
                <a:solidFill>
                  <a:srgbClr val="94A3B8"/>
                </a:solidFill>
              </a:defRPr>
            </a:pPr>
            <a:r>
              <a:t>ENERGY BALANCE</a:t>
            </a:r>
          </a:p>
        </p:txBody>
      </p:sp>
      <p:sp>
        <p:nvSpPr>
          <p:cNvPr id="12" name="Rounded Rectangle 11"/>
          <p:cNvSpPr/>
          <p:nvPr/>
        </p:nvSpPr>
        <p:spPr>
          <a:xfrm>
            <a:off x="9235440" y="4663440"/>
            <a:ext cx="1920240" cy="1097280"/>
          </a:xfrm>
          <a:prstGeom prst="roundRect">
            <a:avLst/>
          </a:prstGeom>
          <a:solidFill>
            <a:srgbClr val="1E293B"/>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0" y="4736592"/>
            <a:ext cx="1737360" cy="950976"/>
          </a:xfrm>
          <a:prstGeom prst="rect">
            <a:avLst/>
          </a:prstGeom>
          <a:noFill/>
        </p:spPr>
        <p:txBody>
          <a:bodyPr wrap="square" lIns="0" tIns="0" rIns="0" bIns="0">
            <a:spAutoFit/>
          </a:bodyPr>
          <a:lstStyle/>
          <a:p>
            <a:pPr algn="ctr">
              <a:defRPr sz="1800" b="1">
                <a:solidFill>
                  <a:srgbClr val="8B5CF6"/>
                </a:solidFill>
              </a:defRPr>
            </a:pPr>
            <a:r>
              <a:t>+86.85</a:t>
            </a:r>
          </a:p>
          <a:p>
            <a:pPr algn="ctr">
              <a:defRPr sz="900" b="1">
                <a:solidFill>
                  <a:srgbClr val="94A3B8"/>
                </a:solidFill>
              </a:defRPr>
            </a:pPr>
            <a:r>
              <a:t>DQN MEAN REWARD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EXECUTIVE SUMMARY</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Problem Landscape &amp; Project Motivation</a:t>
            </a:r>
          </a:p>
        </p:txBody>
      </p:sp>
      <p:sp>
        <p:nvSpPr>
          <p:cNvPr id="4" name="Rounded Rectangle 3"/>
          <p:cNvSpPr/>
          <p:nvPr/>
        </p:nvSpPr>
        <p:spPr>
          <a:xfrm>
            <a:off x="731520" y="1463040"/>
            <a:ext cx="5120640" cy="4754880"/>
          </a:xfrm>
          <a:prstGeom prst="roundRect">
            <a:avLst/>
          </a:prstGeom>
          <a:solidFill>
            <a:srgbClr val="151C2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600" b="1">
                <a:solidFill>
                  <a:srgbClr val="EF4444"/>
                </a:solidFill>
              </a:defRPr>
            </a:pPr>
            <a:r>
              <a:t>🔴 The Modern Energy Trilemma</a:t>
            </a:r>
          </a:p>
          <a:p>
            <a:pPr>
              <a:spcBef>
                <a:spcPts val="800"/>
              </a:spcBef>
              <a:defRPr b="1" sz="1100">
                <a:solidFill>
                  <a:srgbClr val="F8FAFC"/>
                </a:solidFill>
              </a:defRPr>
            </a:pPr>
            <a:r>
              <a:t>• Solar Intermittency: </a:t>
            </a:r>
            <a:r>
              <a:rPr b="0">
                <a:solidFill>
                  <a:srgbClr val="94A3B8"/>
                </a:solidFill>
              </a:rPr>
              <a:t>Weather fluctuations cause sudden spikes and drops in PV generation, destabilizing unmanaged grids.</a:t>
            </a:r>
          </a:p>
          <a:p>
            <a:pPr>
              <a:spcBef>
                <a:spcPts val="800"/>
              </a:spcBef>
              <a:defRPr b="1" sz="1100">
                <a:solidFill>
                  <a:srgbClr val="F8FAFC"/>
                </a:solidFill>
              </a:defRPr>
            </a:pPr>
            <a:r>
              <a:t>• Non-Linear Dynamic Tariffs: </a:t>
            </a:r>
            <a:r>
              <a:rPr b="0">
                <a:solidFill>
                  <a:srgbClr val="94A3B8"/>
                </a:solidFill>
              </a:rPr>
              <a:t>Time-of-Use (ToU) and tiered slab pricing make manual scheduling economically inefficient.</a:t>
            </a:r>
          </a:p>
          <a:p>
            <a:pPr>
              <a:spcBef>
                <a:spcPts val="800"/>
              </a:spcBef>
              <a:defRPr b="1" sz="1100">
                <a:solidFill>
                  <a:srgbClr val="F8FAFC"/>
                </a:solidFill>
              </a:defRPr>
            </a:pPr>
            <a:r>
              <a:t>• Sub-Optimal Storage Utilization: </a:t>
            </a:r>
            <a:r>
              <a:rPr b="0">
                <a:solidFill>
                  <a:srgbClr val="94A3B8"/>
                </a:solidFill>
              </a:rPr>
              <a:t>Batteries often cycle needlessly, causing premature cell degradation without providing real blackout backup.</a:t>
            </a:r>
          </a:p>
          <a:p>
            <a:pPr>
              <a:spcBef>
                <a:spcPts val="800"/>
              </a:spcBef>
              <a:defRPr b="1" sz="1100">
                <a:solidFill>
                  <a:srgbClr val="F8FAFC"/>
                </a:solidFill>
              </a:defRPr>
            </a:pPr>
            <a:r>
              <a:t>• Black-Box Hesitancy: </a:t>
            </a:r>
            <a:r>
              <a:rPr b="0">
                <a:solidFill>
                  <a:srgbClr val="94A3B8"/>
                </a:solidFill>
              </a:rPr>
              <a:t>Operators and homeowners reject autonomous controllers lacking verifiable safety and interpretable reasoning.</a:t>
            </a:r>
          </a:p>
        </p:txBody>
      </p:sp>
      <p:sp>
        <p:nvSpPr>
          <p:cNvPr id="6" name="Rounded Rectangle 5"/>
          <p:cNvSpPr/>
          <p:nvPr/>
        </p:nvSpPr>
        <p:spPr>
          <a:xfrm>
            <a:off x="6217920" y="1463040"/>
            <a:ext cx="5212080" cy="4754880"/>
          </a:xfrm>
          <a:prstGeom prst="roundRect">
            <a:avLst/>
          </a:prstGeom>
          <a:solidFill>
            <a:srgbClr val="151C2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600" b="1">
                <a:solidFill>
                  <a:srgbClr val="10B981"/>
                </a:solidFill>
              </a:defRPr>
            </a:pPr>
            <a:r>
              <a:t>🟢 The SEMS Architectural Solution</a:t>
            </a:r>
          </a:p>
          <a:p>
            <a:pPr>
              <a:spcBef>
                <a:spcPts val="800"/>
              </a:spcBef>
              <a:defRPr b="1" sz="1100">
                <a:solidFill>
                  <a:srgbClr val="F8FAFC"/>
                </a:solidFill>
              </a:defRPr>
            </a:pPr>
            <a:r>
              <a:t>✔ Predictive Intelligence: </a:t>
            </a:r>
            <a:r>
              <a:rPr b="0">
                <a:solidFill>
                  <a:srgbClr val="94A3B8"/>
                </a:solidFill>
              </a:rPr>
              <a:t>Combines XGBoost tariff pricing, MLP solar irradiance, and LSTM load sequences for lookahead forecasting.</a:t>
            </a:r>
          </a:p>
          <a:p>
            <a:pPr>
              <a:spcBef>
                <a:spcPts val="800"/>
              </a:spcBef>
              <a:defRPr b="1" sz="1100">
                <a:solidFill>
                  <a:srgbClr val="F8FAFC"/>
                </a:solidFill>
              </a:defRPr>
            </a:pPr>
            <a:r>
              <a:t>✔ Hardware-Linked BESS Control: </a:t>
            </a:r>
            <a:r>
              <a:rPr b="0">
                <a:solidFill>
                  <a:srgbClr val="94A3B8"/>
                </a:solidFill>
              </a:rPr>
              <a:t>Direct telemetry from Enode API (Tesla Powerwall / Enphase) with true state-of-charge tracking.</a:t>
            </a:r>
          </a:p>
          <a:p>
            <a:pPr>
              <a:spcBef>
                <a:spcPts val="800"/>
              </a:spcBef>
              <a:defRPr b="1" sz="1100">
                <a:solidFill>
                  <a:srgbClr val="F8FAFC"/>
                </a:solidFill>
              </a:defRPr>
            </a:pPr>
            <a:r>
              <a:t>✔ Deterministic Physical Safety: </a:t>
            </a:r>
            <a:r>
              <a:rPr b="0">
                <a:solidFill>
                  <a:srgbClr val="94A3B8"/>
                </a:solidFill>
              </a:rPr>
              <a:t>Guaranteed energy conservation (P_solar + P_batt + P_grid = P_load + P_chg + P_exp).</a:t>
            </a:r>
          </a:p>
          <a:p>
            <a:pPr>
              <a:spcBef>
                <a:spcPts val="800"/>
              </a:spcBef>
              <a:defRPr b="1" sz="1100">
                <a:solidFill>
                  <a:srgbClr val="F8FAFC"/>
                </a:solidFill>
              </a:defRPr>
            </a:pPr>
            <a:r>
              <a:t>✔ Reinforcement Learning Dispatch: </a:t>
            </a:r>
            <a:r>
              <a:rPr b="0">
                <a:solidFill>
                  <a:srgbClr val="94A3B8"/>
                </a:solidFill>
              </a:rPr>
              <a:t>DQN agent learns cost-minimizing, peak-shaving strategies under stochastic conditions.</a:t>
            </a:r>
          </a:p>
          <a:p>
            <a:pPr>
              <a:spcBef>
                <a:spcPts val="800"/>
              </a:spcBef>
              <a:defRPr b="1" sz="1100">
                <a:solidFill>
                  <a:srgbClr val="F8FAFC"/>
                </a:solidFill>
              </a:defRPr>
            </a:pPr>
            <a:r>
              <a:t>✔ Explainable AI (XAI): </a:t>
            </a:r>
            <a:r>
              <a:rPr b="0">
                <a:solidFill>
                  <a:srgbClr val="94A3B8"/>
                </a:solidFill>
              </a:rPr>
              <a:t>Generates transparent SHAP attributions and human-readable natural language justifications.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SYSTEM TOPOLOGY</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End-to-End Modular System Architecture</a:t>
            </a:r>
          </a:p>
        </p:txBody>
      </p:sp>
      <p:sp>
        <p:nvSpPr>
          <p:cNvPr id="4" name="Rounded Rectangle 3"/>
          <p:cNvSpPr/>
          <p:nvPr/>
        </p:nvSpPr>
        <p:spPr>
          <a:xfrm>
            <a:off x="731520" y="1463040"/>
            <a:ext cx="2560320" cy="4754880"/>
          </a:xfrm>
          <a:prstGeom prst="roundRect">
            <a:avLst/>
          </a:prstGeom>
          <a:solidFill>
            <a:srgbClr val="151C2E"/>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2286000" cy="4389120"/>
          </a:xfrm>
          <a:prstGeom prst="rect">
            <a:avLst/>
          </a:prstGeom>
          <a:noFill/>
        </p:spPr>
        <p:txBody>
          <a:bodyPr wrap="square">
            <a:spAutoFit/>
          </a:bodyPr>
          <a:lstStyle/>
          <a:p>
            <a:pPr>
              <a:defRPr sz="1300" b="1">
                <a:solidFill>
                  <a:srgbClr val="06B6D4"/>
                </a:solidFill>
              </a:defRPr>
            </a:pPr>
            <a:r>
              <a:t>1. Data Ingestion &amp; IoT</a:t>
            </a:r>
          </a:p>
          <a:p>
            <a:pPr>
              <a:spcBef>
                <a:spcPts val="800"/>
              </a:spcBef>
              <a:defRPr sz="1050">
                <a:solidFill>
                  <a:srgbClr val="CBD5E1"/>
                </a:solidFill>
              </a:defRPr>
            </a:pPr>
            <a:r>
              <a:t>• TNEB Historical Billing Data</a:t>
            </a:r>
          </a:p>
          <a:p>
            <a:pPr>
              <a:spcBef>
                <a:spcPts val="800"/>
              </a:spcBef>
              <a:defRPr sz="1050">
                <a:solidFill>
                  <a:srgbClr val="CBD5E1"/>
                </a:solidFill>
              </a:defRPr>
            </a:pPr>
            <a:r>
              <a:t>• OpenWeatherMap 5-Day Forecast</a:t>
            </a:r>
          </a:p>
          <a:p>
            <a:pPr>
              <a:spcBef>
                <a:spcPts val="800"/>
              </a:spcBef>
              <a:defRPr sz="1050">
                <a:solidFill>
                  <a:srgbClr val="CBD5E1"/>
                </a:solidFill>
              </a:defRPr>
            </a:pPr>
            <a:r>
              <a:t>• Smart Meter / IoT Modbus Stream</a:t>
            </a:r>
          </a:p>
          <a:p>
            <a:pPr>
              <a:spcBef>
                <a:spcPts val="800"/>
              </a:spcBef>
              <a:defRPr sz="1050">
                <a:solidFill>
                  <a:srgbClr val="CBD5E1"/>
                </a:solidFill>
              </a:defRPr>
            </a:pPr>
            <a:r>
              <a:t>• Enode Hardware BESS Telemetry</a:t>
            </a:r>
          </a:p>
          <a:p>
            <a:pPr>
              <a:spcBef>
                <a:spcPts val="800"/>
              </a:spcBef>
              <a:defRPr sz="1050">
                <a:solidFill>
                  <a:srgbClr val="CBD5E1"/>
                </a:solidFill>
              </a:defRPr>
            </a:pPr>
            <a:r>
              <a:t>• MQTT Telemetry Gateway</a:t>
            </a:r>
          </a:p>
        </p:txBody>
      </p:sp>
      <p:sp>
        <p:nvSpPr>
          <p:cNvPr id="6" name="Rounded Rectangle 5"/>
          <p:cNvSpPr/>
          <p:nvPr/>
        </p:nvSpPr>
        <p:spPr>
          <a:xfrm>
            <a:off x="3429000" y="1463040"/>
            <a:ext cx="2560320" cy="4754880"/>
          </a:xfrm>
          <a:prstGeom prst="roundRect">
            <a:avLst/>
          </a:prstGeom>
          <a:solidFill>
            <a:srgbClr val="151C2E"/>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45920"/>
            <a:ext cx="2286000" cy="4389120"/>
          </a:xfrm>
          <a:prstGeom prst="rect">
            <a:avLst/>
          </a:prstGeom>
          <a:noFill/>
        </p:spPr>
        <p:txBody>
          <a:bodyPr wrap="square">
            <a:spAutoFit/>
          </a:bodyPr>
          <a:lstStyle/>
          <a:p>
            <a:pPr>
              <a:defRPr sz="1300" b="1">
                <a:solidFill>
                  <a:srgbClr val="8B5CF6"/>
                </a:solidFill>
              </a:defRPr>
            </a:pPr>
            <a:r>
              <a:t>2. Predictive &amp; RL Layer</a:t>
            </a:r>
          </a:p>
          <a:p>
            <a:pPr>
              <a:spcBef>
                <a:spcPts val="800"/>
              </a:spcBef>
              <a:defRPr sz="1050">
                <a:solidFill>
                  <a:srgbClr val="CBD5E1"/>
                </a:solidFill>
              </a:defRPr>
            </a:pPr>
            <a:r>
              <a:t>• XGBoost Tariff Engine (R²=0.984)</a:t>
            </a:r>
          </a:p>
          <a:p>
            <a:pPr>
              <a:spcBef>
                <a:spcPts val="800"/>
              </a:spcBef>
              <a:defRPr sz="1050">
                <a:solidFill>
                  <a:srgbClr val="CBD5E1"/>
                </a:solidFill>
              </a:defRPr>
            </a:pPr>
            <a:r>
              <a:t>• MLP Solar Irradiance Forecaster</a:t>
            </a:r>
          </a:p>
          <a:p>
            <a:pPr>
              <a:spcBef>
                <a:spcPts val="800"/>
              </a:spcBef>
              <a:defRPr sz="1050">
                <a:solidFill>
                  <a:srgbClr val="CBD5E1"/>
                </a:solidFill>
              </a:defRPr>
            </a:pPr>
            <a:r>
              <a:t>• LSTM Load Demand Model</a:t>
            </a:r>
          </a:p>
          <a:p>
            <a:pPr>
              <a:spcBef>
                <a:spcPts val="800"/>
              </a:spcBef>
              <a:defRPr sz="1050">
                <a:solidFill>
                  <a:srgbClr val="CBD5E1"/>
                </a:solidFill>
              </a:defRPr>
            </a:pPr>
            <a:r>
              <a:t>• Probabilistic Bounds (P10/50/90)</a:t>
            </a:r>
          </a:p>
          <a:p>
            <a:pPr>
              <a:spcBef>
                <a:spcPts val="800"/>
              </a:spcBef>
              <a:defRPr sz="1050">
                <a:solidFill>
                  <a:srgbClr val="CBD5E1"/>
                </a:solidFill>
              </a:defRPr>
            </a:pPr>
            <a:r>
              <a:t>• DQN Multi-Objective Agent</a:t>
            </a:r>
          </a:p>
        </p:txBody>
      </p:sp>
      <p:sp>
        <p:nvSpPr>
          <p:cNvPr id="8" name="Rounded Rectangle 7"/>
          <p:cNvSpPr/>
          <p:nvPr/>
        </p:nvSpPr>
        <p:spPr>
          <a:xfrm>
            <a:off x="6126480" y="1463040"/>
            <a:ext cx="2560320" cy="4754880"/>
          </a:xfrm>
          <a:prstGeom prst="roundRect">
            <a:avLst/>
          </a:prstGeom>
          <a:solidFill>
            <a:srgbClr val="151C2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45920"/>
            <a:ext cx="2286000" cy="4389120"/>
          </a:xfrm>
          <a:prstGeom prst="rect">
            <a:avLst/>
          </a:prstGeom>
          <a:noFill/>
        </p:spPr>
        <p:txBody>
          <a:bodyPr wrap="square">
            <a:spAutoFit/>
          </a:bodyPr>
          <a:lstStyle/>
          <a:p>
            <a:pPr>
              <a:defRPr sz="1300" b="1">
                <a:solidFill>
                  <a:srgbClr val="10B981"/>
                </a:solidFill>
              </a:defRPr>
            </a:pPr>
            <a:r>
              <a:t>3. Energy Physics Core</a:t>
            </a:r>
          </a:p>
          <a:p>
            <a:pPr>
              <a:spcBef>
                <a:spcPts val="800"/>
              </a:spcBef>
              <a:defRPr sz="1050">
                <a:solidFill>
                  <a:srgbClr val="CBD5E1"/>
                </a:solidFill>
              </a:defRPr>
            </a:pPr>
            <a:r>
              <a:t>• Strict Hierarchy Allocator</a:t>
            </a:r>
          </a:p>
          <a:p>
            <a:pPr>
              <a:spcBef>
                <a:spcPts val="800"/>
              </a:spcBef>
              <a:defRPr sz="1050">
                <a:solidFill>
                  <a:srgbClr val="CBD5E1"/>
                </a:solidFill>
              </a:defRPr>
            </a:pPr>
            <a:r>
              <a:t>• Real BESS Bounds &amp; Efficiency (95%)</a:t>
            </a:r>
          </a:p>
          <a:p>
            <a:pPr>
              <a:spcBef>
                <a:spcPts val="800"/>
              </a:spcBef>
              <a:defRPr sz="1050">
                <a:solidFill>
                  <a:srgbClr val="CBD5E1"/>
                </a:solidFill>
              </a:defRPr>
            </a:pPr>
            <a:r>
              <a:t>• Dynamic 10-Hr Backup Physics</a:t>
            </a:r>
          </a:p>
          <a:p>
            <a:pPr>
              <a:spcBef>
                <a:spcPts val="800"/>
              </a:spcBef>
              <a:defRPr sz="1050">
                <a:solidFill>
                  <a:srgbClr val="CBD5E1"/>
                </a:solidFill>
              </a:defRPr>
            </a:pPr>
            <a:r>
              <a:t>• Energy Conservation Validation</a:t>
            </a:r>
          </a:p>
          <a:p>
            <a:pPr>
              <a:spcBef>
                <a:spcPts val="800"/>
              </a:spcBef>
              <a:defRPr sz="1050">
                <a:solidFill>
                  <a:srgbClr val="CBD5E1"/>
                </a:solidFill>
              </a:defRPr>
            </a:pPr>
            <a:r>
              <a:t>• Zero Tolerance Balance Engine</a:t>
            </a:r>
          </a:p>
        </p:txBody>
      </p:sp>
      <p:sp>
        <p:nvSpPr>
          <p:cNvPr id="10" name="Rounded Rectangle 9"/>
          <p:cNvSpPr/>
          <p:nvPr/>
        </p:nvSpPr>
        <p:spPr>
          <a:xfrm>
            <a:off x="8823960" y="1463040"/>
            <a:ext cx="2560320" cy="4754880"/>
          </a:xfrm>
          <a:prstGeom prst="roundRect">
            <a:avLst/>
          </a:prstGeom>
          <a:solidFill>
            <a:srgbClr val="151C2E"/>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645920"/>
            <a:ext cx="2286000" cy="4389120"/>
          </a:xfrm>
          <a:prstGeom prst="rect">
            <a:avLst/>
          </a:prstGeom>
          <a:noFill/>
        </p:spPr>
        <p:txBody>
          <a:bodyPr wrap="square">
            <a:spAutoFit/>
          </a:bodyPr>
          <a:lstStyle/>
          <a:p>
            <a:pPr>
              <a:defRPr sz="1300" b="1">
                <a:solidFill>
                  <a:srgbClr val="F59E0B"/>
                </a:solidFill>
              </a:defRPr>
            </a:pPr>
            <a:r>
              <a:t>4. XAI, API &amp; Dashboard</a:t>
            </a:r>
          </a:p>
          <a:p>
            <a:pPr>
              <a:spcBef>
                <a:spcPts val="800"/>
              </a:spcBef>
              <a:defRPr sz="1050">
                <a:solidFill>
                  <a:srgbClr val="CBD5E1"/>
                </a:solidFill>
              </a:defRPr>
            </a:pPr>
            <a:r>
              <a:t>• SHAP Attribution Insights</a:t>
            </a:r>
          </a:p>
          <a:p>
            <a:pPr>
              <a:spcBef>
                <a:spcPts val="800"/>
              </a:spcBef>
              <a:defRPr sz="1050">
                <a:solidFill>
                  <a:srgbClr val="CBD5E1"/>
                </a:solidFill>
              </a:defRPr>
            </a:pPr>
            <a:r>
              <a:t>• Natural Language Explanations</a:t>
            </a:r>
          </a:p>
          <a:p>
            <a:pPr>
              <a:spcBef>
                <a:spcPts val="800"/>
              </a:spcBef>
              <a:defRPr sz="1050">
                <a:solidFill>
                  <a:srgbClr val="CBD5E1"/>
                </a:solidFill>
              </a:defRPr>
            </a:pPr>
            <a:r>
              <a:t>• FastAPI REST Endpoints</a:t>
            </a:r>
          </a:p>
          <a:p>
            <a:pPr>
              <a:spcBef>
                <a:spcPts val="800"/>
              </a:spcBef>
              <a:defRPr sz="1050">
                <a:solidFill>
                  <a:srgbClr val="CBD5E1"/>
                </a:solidFill>
              </a:defRPr>
            </a:pPr>
            <a:r>
              <a:t>• Interactive Glassmorphism UI</a:t>
            </a:r>
          </a:p>
          <a:p>
            <a:pPr>
              <a:spcBef>
                <a:spcPts val="800"/>
              </a:spcBef>
              <a:defRPr sz="1050">
                <a:solidFill>
                  <a:srgbClr val="CBD5E1"/>
                </a:solidFill>
              </a:defRPr>
            </a:pPr>
            <a:r>
              <a:t>• AI Copilot &amp; PDF Reports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HARDWARE CONNECTIVITY</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Real-World Battery API Integration (Enode)</a:t>
            </a:r>
          </a:p>
        </p:txBody>
      </p:sp>
      <p:sp>
        <p:nvSpPr>
          <p:cNvPr id="4" name="Rounded Rectangle 3"/>
          <p:cNvSpPr/>
          <p:nvPr/>
        </p:nvSpPr>
        <p:spPr>
          <a:xfrm>
            <a:off x="731520" y="1463040"/>
            <a:ext cx="5669280" cy="4754880"/>
          </a:xfrm>
          <a:prstGeom prst="roundRect">
            <a:avLst/>
          </a:prstGeom>
          <a:solidFill>
            <a:srgbClr val="151C2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06B6D4"/>
                </a:solidFill>
              </a:defRPr>
            </a:pPr>
            <a:r>
              <a:t>🔌 Multi-Manufacturer BESS Interface</a:t>
            </a:r>
          </a:p>
          <a:p>
            <a:pPr>
              <a:spcBef>
                <a:spcPts val="600"/>
              </a:spcBef>
              <a:defRPr b="1" sz="1050">
                <a:solidFill>
                  <a:srgbClr val="F8FAFC"/>
                </a:solidFill>
              </a:defRPr>
            </a:pPr>
            <a:r>
              <a:t>✔ OAuth2 Cloud Gateway: </a:t>
            </a:r>
            <a:r>
              <a:rPr b="0">
                <a:solidFill>
                  <a:srgbClr val="94A3B8"/>
                </a:solidFill>
              </a:rPr>
              <a:t>Direct HTTPS REST authentication with Enode Production &amp; Sandbox endpoints.</a:t>
            </a:r>
          </a:p>
          <a:p>
            <a:pPr>
              <a:spcBef>
                <a:spcPts val="600"/>
              </a:spcBef>
              <a:defRPr b="1" sz="1050">
                <a:solidFill>
                  <a:srgbClr val="F8FAFC"/>
                </a:solidFill>
              </a:defRPr>
            </a:pPr>
            <a:r>
              <a:t>✔ OEM Compatibility: </a:t>
            </a:r>
            <a:r>
              <a:rPr b="0">
                <a:solidFill>
                  <a:srgbClr val="94A3B8"/>
                </a:solidFill>
              </a:rPr>
              <a:t>Connects to Tesla Powerwall 2/3, Enphase IQ Battery, SolarEdge, and sonnenBatterie.</a:t>
            </a:r>
          </a:p>
          <a:p>
            <a:pPr>
              <a:spcBef>
                <a:spcPts val="600"/>
              </a:spcBef>
              <a:defRPr b="1" sz="1050">
                <a:solidFill>
                  <a:srgbClr val="F8FAFC"/>
                </a:solidFill>
              </a:defRPr>
            </a:pPr>
            <a:r>
              <a:t>✔ True Physical Telemetry: </a:t>
            </a:r>
            <a:r>
              <a:rPr b="0">
                <a:solidFill>
                  <a:srgbClr val="94A3B8"/>
                </a:solidFill>
              </a:rPr>
              <a:t>Tracks live State-of-Charge (SOC %), battery power (kW), chemical usable capacity, and health degradation.</a:t>
            </a:r>
          </a:p>
          <a:p>
            <a:pPr>
              <a:spcBef>
                <a:spcPts val="600"/>
              </a:spcBef>
              <a:defRPr b="1" sz="1050">
                <a:solidFill>
                  <a:srgbClr val="F8FAFC"/>
                </a:solidFill>
              </a:defRPr>
            </a:pPr>
            <a:r>
              <a:t>✔ Zero-Hallucination Policy: </a:t>
            </a:r>
            <a:r>
              <a:rPr b="0">
                <a:solidFill>
                  <a:srgbClr val="94A3B8"/>
                </a:solidFill>
              </a:rPr>
              <a:t>If hardware disconnects, SEMS returns explicit 'status: unavailable' and 'connected: false' instead of inventing fake SOC.</a:t>
            </a:r>
          </a:p>
          <a:p>
            <a:pPr>
              <a:spcBef>
                <a:spcPts val="600"/>
              </a:spcBef>
              <a:defRPr b="1" sz="1050">
                <a:solidFill>
                  <a:srgbClr val="F8FAFC"/>
                </a:solidFill>
              </a:defRPr>
            </a:pPr>
            <a:r>
              <a:t>✔ Configurable Polling Interval: </a:t>
            </a:r>
            <a:r>
              <a:rPr b="0">
                <a:solidFill>
                  <a:srgbClr val="94A3B8"/>
                </a:solidFill>
              </a:rPr>
              <a:t>15-second async polling cycle keeps the microgrid synchronized without API rate-limit exhaustion.</a:t>
            </a:r>
          </a:p>
        </p:txBody>
      </p:sp>
      <p:sp>
        <p:nvSpPr>
          <p:cNvPr id="6" name="Rounded Rectangle 5"/>
          <p:cNvSpPr/>
          <p:nvPr/>
        </p:nvSpPr>
        <p:spPr>
          <a:xfrm>
            <a:off x="6675120" y="1463040"/>
            <a:ext cx="4754880" cy="4754880"/>
          </a:xfrm>
          <a:prstGeom prst="roundRect">
            <a:avLst/>
          </a:prstGeom>
          <a:solidFill>
            <a:srgbClr val="151C2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500" b="1">
                <a:solidFill>
                  <a:srgbClr val="10B981"/>
                </a:solidFill>
              </a:defRPr>
            </a:pPr>
            <a:r>
              <a:t>⚡ Supported Battery Modes</a:t>
            </a:r>
          </a:p>
          <a:p>
            <a:pPr>
              <a:spcBef>
                <a:spcPts val="800"/>
              </a:spcBef>
              <a:defRPr b="1" sz="1100">
                <a:solidFill>
                  <a:srgbClr val="F59E0B"/>
                </a:solidFill>
              </a:defRPr>
            </a:pPr>
            <a:r>
              <a:t>[REAL MODE] </a:t>
            </a:r>
            <a:r>
              <a:rPr b="0">
                <a:solidFill>
                  <a:srgbClr val="94A3B8"/>
                </a:solidFill>
              </a:rPr>
              <a:t>Live Enode OAuth2 production link to physical BESS hardware in home/facility.</a:t>
            </a:r>
          </a:p>
          <a:p>
            <a:pPr>
              <a:spcBef>
                <a:spcPts val="800"/>
              </a:spcBef>
              <a:defRPr b="1" sz="1100">
                <a:solidFill>
                  <a:srgbClr val="F59E0B"/>
                </a:solidFill>
              </a:defRPr>
            </a:pPr>
            <a:r>
              <a:t>[SANDBOX MODE] </a:t>
            </a:r>
            <a:r>
              <a:rPr b="0">
                <a:solidFill>
                  <a:srgbClr val="94A3B8"/>
                </a:solidFill>
              </a:rPr>
              <a:t>Official Enode Sandbox API for staging, integration tests, and simulated telemetry.</a:t>
            </a:r>
          </a:p>
          <a:p>
            <a:pPr>
              <a:spcBef>
                <a:spcPts val="800"/>
              </a:spcBef>
              <a:defRPr b="1" sz="1100">
                <a:solidFill>
                  <a:srgbClr val="F59E0B"/>
                </a:solidFill>
              </a:defRPr>
            </a:pPr>
            <a:r>
              <a:t>[DEMO MODE] </a:t>
            </a:r>
            <a:r>
              <a:rPr b="0">
                <a:solidFill>
                  <a:srgbClr val="94A3B8"/>
                </a:solidFill>
              </a:rPr>
              <a:t>Autonomous virtual mathematical battery emulator for local standalone testing.</a:t>
            </a:r>
          </a:p>
          <a:p>
            <a:br/>
            <a:pPr>
              <a:defRPr b="1" sz="1100">
                <a:solidFill>
                  <a:srgbClr val="F8FAFC"/>
                </a:solidFill>
              </a:defRPr>
            </a:pPr>
            <a:r>
              <a:t>Hardware Safety Parameters:</a:t>
            </a:r>
          </a:p>
          <a:p>
            <a:pPr>
              <a:defRPr sz="1000">
                <a:solidFill>
                  <a:srgbClr val="CBD5E1"/>
                </a:solidFill>
              </a:defRPr>
            </a:pPr>
            <a:r>
              <a:t>• Min SOC: 20% (Depth-of-Discharge Protection)</a:t>
            </a:r>
            <a:br/>
            <a:r>
              <a:t>• Max SOC: 100% | Charge/Discharge Eff: 95%</a:t>
            </a:r>
            <a:br/>
            <a:r>
              <a:t>• Max Inverter Rating: 5.0 kW C-rate limit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DETERMINISTIC PHYSICS</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Strict Physical Energy Hierarchy &amp; Balance Laws</a:t>
            </a:r>
          </a:p>
        </p:txBody>
      </p:sp>
      <p:sp>
        <p:nvSpPr>
          <p:cNvPr id="4" name="Rounded Rectangle 3"/>
          <p:cNvSpPr/>
          <p:nvPr/>
        </p:nvSpPr>
        <p:spPr>
          <a:xfrm>
            <a:off x="731520" y="1371600"/>
            <a:ext cx="6583680" cy="777240"/>
          </a:xfrm>
          <a:prstGeom prst="roundRect">
            <a:avLst/>
          </a:prstGeom>
          <a:solidFill>
            <a:srgbClr val="151C2E"/>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44752"/>
            <a:ext cx="6309360" cy="640080"/>
          </a:xfrm>
          <a:prstGeom prst="rect">
            <a:avLst/>
          </a:prstGeom>
          <a:noFill/>
        </p:spPr>
        <p:txBody>
          <a:bodyPr wrap="square">
            <a:spAutoFit/>
          </a:bodyPr>
          <a:lstStyle/>
          <a:p>
            <a:pPr>
              <a:defRPr sz="1150" b="1">
                <a:solidFill>
                  <a:srgbClr val="F59E0B"/>
                </a:solidFill>
              </a:defRPr>
            </a:pPr>
            <a:r>
              <a:t>Priority 1: ☀️ Solar Generation ➔ 🏠 Household Load</a:t>
            </a:r>
          </a:p>
          <a:p>
            <a:pPr>
              <a:defRPr sz="950">
                <a:solidFill>
                  <a:srgbClr val="94A3B8"/>
                </a:solidFill>
              </a:defRPr>
            </a:pPr>
            <a:r>
              <a:t>Solar power always feeds real-time household demand directly before any storage or export.</a:t>
            </a:r>
          </a:p>
        </p:txBody>
      </p:sp>
      <p:sp>
        <p:nvSpPr>
          <p:cNvPr id="6" name="Rounded Rectangle 5"/>
          <p:cNvSpPr/>
          <p:nvPr/>
        </p:nvSpPr>
        <p:spPr>
          <a:xfrm>
            <a:off x="731520" y="2240280"/>
            <a:ext cx="6583680" cy="777240"/>
          </a:xfrm>
          <a:prstGeom prst="roundRect">
            <a:avLst/>
          </a:prstGeom>
          <a:solidFill>
            <a:srgbClr val="151C2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13432"/>
            <a:ext cx="6309360" cy="640080"/>
          </a:xfrm>
          <a:prstGeom prst="rect">
            <a:avLst/>
          </a:prstGeom>
          <a:noFill/>
        </p:spPr>
        <p:txBody>
          <a:bodyPr wrap="square">
            <a:spAutoFit/>
          </a:bodyPr>
          <a:lstStyle/>
          <a:p>
            <a:pPr>
              <a:defRPr sz="1150" b="1">
                <a:solidFill>
                  <a:srgbClr val="10B981"/>
                </a:solidFill>
              </a:defRPr>
            </a:pPr>
            <a:r>
              <a:t>Priority 2: ☀️ Surplus Solar ➔ 🔋 Battery Storage</a:t>
            </a:r>
          </a:p>
          <a:p>
            <a:pPr>
              <a:defRPr sz="950">
                <a:solidFill>
                  <a:srgbClr val="94A3B8"/>
                </a:solidFill>
              </a:defRPr>
            </a:pPr>
            <a:r>
              <a:t>Excess generation charges the BESS up to MAX_SOC (100%) and 5.0 kW inverter limit.</a:t>
            </a:r>
          </a:p>
        </p:txBody>
      </p:sp>
      <p:sp>
        <p:nvSpPr>
          <p:cNvPr id="8" name="Rounded Rectangle 7"/>
          <p:cNvSpPr/>
          <p:nvPr/>
        </p:nvSpPr>
        <p:spPr>
          <a:xfrm>
            <a:off x="731520" y="3108960"/>
            <a:ext cx="6583680" cy="777240"/>
          </a:xfrm>
          <a:prstGeom prst="roundRect">
            <a:avLst/>
          </a:prstGeom>
          <a:solidFill>
            <a:srgbClr val="151C2E"/>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82112"/>
            <a:ext cx="6309360" cy="640080"/>
          </a:xfrm>
          <a:prstGeom prst="rect">
            <a:avLst/>
          </a:prstGeom>
          <a:noFill/>
        </p:spPr>
        <p:txBody>
          <a:bodyPr wrap="square">
            <a:spAutoFit/>
          </a:bodyPr>
          <a:lstStyle/>
          <a:p>
            <a:pPr>
              <a:defRPr sz="1150" b="1">
                <a:solidFill>
                  <a:srgbClr val="06B6D4"/>
                </a:solidFill>
              </a:defRPr>
            </a:pPr>
            <a:r>
              <a:t>Priority 3: ☀️ Remaining Surplus ➔ ⚡ Grid Export</a:t>
            </a:r>
          </a:p>
          <a:p>
            <a:pPr>
              <a:defRPr sz="950">
                <a:solidFill>
                  <a:srgbClr val="94A3B8"/>
                </a:solidFill>
              </a:defRPr>
            </a:pPr>
            <a:r>
              <a:t>When the battery is fully charged, surplus solar exports to the utility grid for feed-in revenue.</a:t>
            </a:r>
          </a:p>
        </p:txBody>
      </p:sp>
      <p:sp>
        <p:nvSpPr>
          <p:cNvPr id="10" name="Rounded Rectangle 9"/>
          <p:cNvSpPr/>
          <p:nvPr/>
        </p:nvSpPr>
        <p:spPr>
          <a:xfrm>
            <a:off x="731520" y="3977639"/>
            <a:ext cx="6583680" cy="777240"/>
          </a:xfrm>
          <a:prstGeom prst="roundRect">
            <a:avLst/>
          </a:prstGeom>
          <a:solidFill>
            <a:srgbClr val="151C2E"/>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050791"/>
            <a:ext cx="6309360" cy="640080"/>
          </a:xfrm>
          <a:prstGeom prst="rect">
            <a:avLst/>
          </a:prstGeom>
          <a:noFill/>
        </p:spPr>
        <p:txBody>
          <a:bodyPr wrap="square">
            <a:spAutoFit/>
          </a:bodyPr>
          <a:lstStyle/>
          <a:p>
            <a:pPr>
              <a:defRPr sz="1150" b="1">
                <a:solidFill>
                  <a:srgbClr val="8B5CF6"/>
                </a:solidFill>
              </a:defRPr>
            </a:pPr>
            <a:r>
              <a:t>Priority 4: 🔋 Battery Discharge ➔ 🏠 Deficit Load</a:t>
            </a:r>
          </a:p>
          <a:p>
            <a:pPr>
              <a:defRPr sz="950">
                <a:solidFill>
                  <a:srgbClr val="94A3B8"/>
                </a:solidFill>
              </a:defRPr>
            </a:pPr>
            <a:r>
              <a:t>During solar deficits or night hours, the battery discharges to cover load down to MIN_SOC (20%).</a:t>
            </a:r>
          </a:p>
        </p:txBody>
      </p:sp>
      <p:sp>
        <p:nvSpPr>
          <p:cNvPr id="12" name="Rounded Rectangle 11"/>
          <p:cNvSpPr/>
          <p:nvPr/>
        </p:nvSpPr>
        <p:spPr>
          <a:xfrm>
            <a:off x="731520" y="4846320"/>
            <a:ext cx="6583680" cy="777240"/>
          </a:xfrm>
          <a:prstGeom prst="roundRect">
            <a:avLst/>
          </a:prstGeom>
          <a:solidFill>
            <a:srgbClr val="151C2E"/>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919472"/>
            <a:ext cx="6309360" cy="640080"/>
          </a:xfrm>
          <a:prstGeom prst="rect">
            <a:avLst/>
          </a:prstGeom>
          <a:noFill/>
        </p:spPr>
        <p:txBody>
          <a:bodyPr wrap="square">
            <a:spAutoFit/>
          </a:bodyPr>
          <a:lstStyle/>
          <a:p>
            <a:pPr>
              <a:defRPr sz="1150" b="1">
                <a:solidFill>
                  <a:srgbClr val="3B82F6"/>
                </a:solidFill>
              </a:defRPr>
            </a:pPr>
            <a:r>
              <a:t>Priority 5: ⚡ Grid Import ➔ 🏠 Residual Deficit</a:t>
            </a:r>
          </a:p>
          <a:p>
            <a:pPr>
              <a:defRPr sz="950">
                <a:solidFill>
                  <a:srgbClr val="94A3B8"/>
                </a:solidFill>
              </a:defRPr>
            </a:pPr>
            <a:r>
              <a:t>The utility grid acts strictly as the final failsafe when solar + battery are exhausted.</a:t>
            </a:r>
          </a:p>
        </p:txBody>
      </p:sp>
      <p:sp>
        <p:nvSpPr>
          <p:cNvPr id="14" name="Rounded Rectangle 13"/>
          <p:cNvSpPr/>
          <p:nvPr/>
        </p:nvSpPr>
        <p:spPr>
          <a:xfrm>
            <a:off x="7589520" y="1371600"/>
            <a:ext cx="3840480" cy="4846320"/>
          </a:xfrm>
          <a:prstGeom prst="roundRect">
            <a:avLst/>
          </a:prstGeom>
          <a:solidFill>
            <a:srgbClr val="151C2E"/>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1554480"/>
            <a:ext cx="3474720" cy="4480560"/>
          </a:xfrm>
          <a:prstGeom prst="rect">
            <a:avLst/>
          </a:prstGeom>
          <a:noFill/>
        </p:spPr>
        <p:txBody>
          <a:bodyPr wrap="square">
            <a:spAutoFit/>
          </a:bodyPr>
          <a:lstStyle/>
          <a:p>
            <a:pPr>
              <a:defRPr sz="1500" b="1">
                <a:solidFill>
                  <a:srgbClr val="F59E0B"/>
                </a:solidFill>
              </a:defRPr>
            </a:pPr>
            <a:r>
              <a:t>⚖️ Energy Balance Law</a:t>
            </a:r>
          </a:p>
          <a:p>
            <a:br/>
            <a:pPr>
              <a:defRPr sz="1100" b="1">
                <a:solidFill>
                  <a:srgbClr val="F8FAFC"/>
                </a:solidFill>
              </a:defRPr>
            </a:pPr>
            <a:r>
              <a:t>Conservation Equation:</a:t>
            </a:r>
          </a:p>
          <a:p>
            <a:pPr>
              <a:spcBef>
                <a:spcPts val="400"/>
              </a:spcBef>
              <a:defRPr sz="1100" b="1">
                <a:solidFill>
                  <a:srgbClr val="06B6D4"/>
                </a:solidFill>
              </a:defRPr>
            </a:pPr>
            <a:r>
              <a:t>P_solar + P_batt_dis + P_grid_imp</a:t>
            </a:r>
            <a:br/>
            <a:r>
              <a:t>  =</a:t>
            </a:r>
            <a:br/>
            <a:r>
              <a:t>P_load + P_batt_chg + P_grid_exp</a:t>
            </a:r>
          </a:p>
          <a:p>
            <a:br/>
            <a:pPr>
              <a:defRPr sz="1100" b="1">
                <a:solidFill>
                  <a:srgbClr val="F8FAFC"/>
                </a:solidFill>
              </a:defRPr>
            </a:pPr>
            <a:r>
              <a:t>Real-Time Automated Auditing:</a:t>
            </a:r>
          </a:p>
          <a:p>
            <a:pPr>
              <a:spcBef>
                <a:spcPts val="400"/>
              </a:spcBef>
              <a:defRPr sz="1000">
                <a:solidFill>
                  <a:srgbClr val="CBD5E1"/>
                </a:solidFill>
              </a:defRPr>
            </a:pPr>
            <a:r>
              <a:t>• Every dispatch step validates |Supply - Demand| ≤ 0.001 kW.</a:t>
            </a:r>
            <a:br/>
            <a:r>
              <a:t>• Micro-correction adjusts floating point epsilon.</a:t>
            </a:r>
            <a:br/>
            <a:r>
              <a:t>• Raises EnergyAllocationError if balance fails, preventing phantom power.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RESILIENCE &amp; RELIABILITY</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Dynamic 10-Hour Backup &amp; Usable Energy Engine</a:t>
            </a:r>
          </a:p>
        </p:txBody>
      </p:sp>
      <p:sp>
        <p:nvSpPr>
          <p:cNvPr id="4" name="Rounded Rectangle 3"/>
          <p:cNvSpPr/>
          <p:nvPr/>
        </p:nvSpPr>
        <p:spPr>
          <a:xfrm>
            <a:off x="731520" y="1463040"/>
            <a:ext cx="5669280" cy="4754880"/>
          </a:xfrm>
          <a:prstGeom prst="roundRect">
            <a:avLst/>
          </a:prstGeom>
          <a:solidFill>
            <a:srgbClr val="151C2E"/>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06B6D4"/>
                </a:solidFill>
              </a:defRPr>
            </a:pPr>
            <a:r>
              <a:t>🧮 Non-Hardcoded Backup Physics</a:t>
            </a:r>
          </a:p>
          <a:p>
            <a:br/>
            <a:pPr>
              <a:defRPr b="1" sz="1100">
                <a:solidFill>
                  <a:srgbClr val="F8FAFC"/>
                </a:solidFill>
              </a:defRPr>
            </a:pPr>
            <a:r>
              <a:t>1. Usable Chemical Energy Formula:</a:t>
            </a:r>
          </a:p>
          <a:p>
            <a:pPr>
              <a:defRPr sz="1050" b="1">
                <a:solidFill>
                  <a:srgbClr val="F59E0B"/>
                </a:solidFill>
              </a:defRPr>
            </a:pPr>
            <a:r>
              <a:t>E_usable (kWh) = Capacity × ((SOC - MIN_SOC) / 100) × η_discharge</a:t>
            </a:r>
          </a:p>
          <a:p>
            <a:br/>
            <a:pPr>
              <a:defRPr b="1" sz="1100">
                <a:solidFill>
                  <a:srgbClr val="F8FAFC"/>
                </a:solidFill>
              </a:defRPr>
            </a:pPr>
            <a:r>
              <a:t>2. Dynamic Estimated Backup Duration:</a:t>
            </a:r>
          </a:p>
          <a:p>
            <a:pPr>
              <a:defRPr sz="1050" b="1">
                <a:solidFill>
                  <a:srgbClr val="10B981"/>
                </a:solidFill>
              </a:defRPr>
            </a:pPr>
            <a:r>
              <a:t>Duration (Hours) = E_usable (kWh) / P_household_load (kW)</a:t>
            </a:r>
          </a:p>
          <a:p>
            <a:br/>
            <a:pPr>
              <a:defRPr b="1" sz="1100">
                <a:solidFill>
                  <a:srgbClr val="F8FAFC"/>
                </a:solidFill>
              </a:defRPr>
            </a:pPr>
            <a:r>
              <a:t>3. Resilience Criterion:</a:t>
            </a:r>
          </a:p>
          <a:p>
            <a:pPr>
              <a:defRPr sz="1000">
                <a:solidFill>
                  <a:srgbClr val="CBD5E1"/>
                </a:solidFill>
              </a:defRPr>
            </a:pPr>
            <a:r>
              <a:t>• If Duration ≥ 10.0 hrs ➔ '10-hour backup available' (Green)</a:t>
            </a:r>
            <a:br/>
            <a:r>
              <a:t>• If Duration &lt; 10.0 hrs ➔ '10-hour backup not available' (Warning)</a:t>
            </a:r>
          </a:p>
        </p:txBody>
      </p:sp>
      <p:sp>
        <p:nvSpPr>
          <p:cNvPr id="6" name="Rounded Rectangle 5"/>
          <p:cNvSpPr/>
          <p:nvPr/>
        </p:nvSpPr>
        <p:spPr>
          <a:xfrm>
            <a:off x="6675120" y="1463040"/>
            <a:ext cx="4754880" cy="4754880"/>
          </a:xfrm>
          <a:prstGeom prst="roundRect">
            <a:avLst/>
          </a:prstGeom>
          <a:solidFill>
            <a:srgbClr val="151C2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400" b="1">
                <a:solidFill>
                  <a:srgbClr val="10B981"/>
                </a:solidFill>
              </a:defRPr>
            </a:pPr>
            <a:r>
              <a:t>📊 Scenario Calculation Matrix (20 kWh BESS)</a:t>
            </a:r>
          </a:p>
          <a:p>
            <a:br/>
            <a:pPr>
              <a:defRPr b="1" sz="1050">
                <a:solidFill>
                  <a:srgbClr val="F8FAFC"/>
                </a:solidFill>
              </a:defRPr>
            </a:pPr>
            <a:r>
              <a:t>High SOC / Light Load (Optimal)</a:t>
            </a:r>
          </a:p>
          <a:p>
            <a:pPr>
              <a:defRPr sz="950">
                <a:solidFill>
                  <a:srgbClr val="94A3B8"/>
                </a:solidFill>
              </a:defRPr>
            </a:pPr>
            <a:r>
              <a:t>SOC: 85% | Load: 1.0 kW  ➔  E_usable: 12.35 kWh  ➔  Backup: 12.35h ✅ (Target Met)</a:t>
            </a:r>
          </a:p>
          <a:p>
            <a:br/>
            <a:pPr>
              <a:defRPr b="1" sz="1050">
                <a:solidFill>
                  <a:srgbClr val="F8FAFC"/>
                </a:solidFill>
              </a:defRPr>
            </a:pPr>
            <a:r>
              <a:t>Moderate SOC / Heavy Load</a:t>
            </a:r>
          </a:p>
          <a:p>
            <a:pPr>
              <a:defRPr sz="950">
                <a:solidFill>
                  <a:srgbClr val="94A3B8"/>
                </a:solidFill>
              </a:defRPr>
            </a:pPr>
            <a:r>
              <a:t>SOC: 68% | Load: 1.8 kW  ➔  E_usable: 9.12 kWh  ➔  Backup: 5.1h ⚠️ (Target Deficit)</a:t>
            </a:r>
          </a:p>
          <a:p>
            <a:br/>
            <a:pPr>
              <a:defRPr b="1" sz="1050">
                <a:solidFill>
                  <a:srgbClr val="F8FAFC"/>
                </a:solidFill>
              </a:defRPr>
            </a:pPr>
            <a:r>
              <a:t>Low SOC / Peak Load</a:t>
            </a:r>
          </a:p>
          <a:p>
            <a:pPr>
              <a:defRPr sz="950">
                <a:solidFill>
                  <a:srgbClr val="94A3B8"/>
                </a:solidFill>
              </a:defRPr>
            </a:pPr>
            <a:r>
              <a:t>SOC: 35% | Load: 2.5 kW  ➔  E_usable: 2.85 kWh  ➔  Backup: 1.1h ⚠️ (Critical Alert)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AI PREDICTION LAYER</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Solar Irradiance &amp; PV Generation Forecaster</a:t>
            </a:r>
          </a:p>
        </p:txBody>
      </p:sp>
      <p:sp>
        <p:nvSpPr>
          <p:cNvPr id="4" name="Rounded Rectangle 3"/>
          <p:cNvSpPr/>
          <p:nvPr/>
        </p:nvSpPr>
        <p:spPr>
          <a:xfrm>
            <a:off x="731520" y="1463040"/>
            <a:ext cx="5669280" cy="4754880"/>
          </a:xfrm>
          <a:prstGeom prst="roundRect">
            <a:avLst/>
          </a:prstGeom>
          <a:solidFill>
            <a:srgbClr val="151C2E"/>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F59E0B"/>
                </a:solidFill>
              </a:defRPr>
            </a:pPr>
            <a:r>
              <a:t>☀️ Deep Multi-Layer Perceptron (MLP)</a:t>
            </a:r>
          </a:p>
          <a:p>
            <a:pPr>
              <a:spcBef>
                <a:spcPts val="600"/>
              </a:spcBef>
              <a:defRPr b="1" sz="1050">
                <a:solidFill>
                  <a:srgbClr val="F8FAFC"/>
                </a:solidFill>
              </a:defRPr>
            </a:pPr>
            <a:r>
              <a:t>• Input Feature Vector (14 features): </a:t>
            </a:r>
            <a:r>
              <a:rPr b="0">
                <a:solidFill>
                  <a:srgbClr val="94A3B8"/>
                </a:solidFill>
              </a:rPr>
              <a:t>Temperature, Relative Humidity, Cloud Cover %, Wind Speed, Heat Index, Heating/Cooling Degree Metrics, Day, Month, Weekday, is_weekend, and Cyclical Sin/Cos Hour Encodings.</a:t>
            </a:r>
          </a:p>
          <a:p>
            <a:pPr>
              <a:spcBef>
                <a:spcPts val="600"/>
              </a:spcBef>
              <a:defRPr b="1" sz="1050">
                <a:solidFill>
                  <a:srgbClr val="F8FAFC"/>
                </a:solidFill>
              </a:defRPr>
            </a:pPr>
            <a:r>
              <a:t>• Network Topology: </a:t>
            </a:r>
            <a:r>
              <a:rPr b="0">
                <a:solidFill>
                  <a:srgbClr val="94A3B8"/>
                </a:solidFill>
              </a:rPr>
              <a:t>PyTorch Sequential Deep MLP with Linear(14, 64) ➔ BatchNorm1d ➔ ReLU ➔ Dropout(0.2) ➔ Linear(64, 32) ➔ ReLU ➔ Linear(32, 1).</a:t>
            </a:r>
          </a:p>
          <a:p>
            <a:pPr>
              <a:spcBef>
                <a:spcPts val="600"/>
              </a:spcBef>
              <a:defRPr b="1" sz="1050">
                <a:solidFill>
                  <a:srgbClr val="F8FAFC"/>
                </a:solidFill>
              </a:defRPr>
            </a:pPr>
            <a:r>
              <a:t>• Cyclic Hour Transformation: </a:t>
            </a:r>
            <a:r>
              <a:rPr b="0">
                <a:solidFill>
                  <a:srgbClr val="94A3B8"/>
                </a:solidFill>
              </a:rPr>
              <a:t>sin(2π · hour/24) and cos(2π · hour/24) preserve continuous solar day/night transitions without boundary discontinuities.</a:t>
            </a:r>
          </a:p>
          <a:p>
            <a:pPr>
              <a:spcBef>
                <a:spcPts val="600"/>
              </a:spcBef>
              <a:defRPr b="1" sz="1050">
                <a:solidFill>
                  <a:srgbClr val="F8FAFC"/>
                </a:solidFill>
              </a:defRPr>
            </a:pPr>
            <a:r>
              <a:t>• Real-Time Inference: </a:t>
            </a:r>
            <a:r>
              <a:rPr b="0">
                <a:solidFill>
                  <a:srgbClr val="94A3B8"/>
                </a:solidFill>
              </a:rPr>
              <a:t>Ingests OpenWeatherMap 5-day / 3-hour forecasts to generate forward-looking generation estimates.</a:t>
            </a:r>
          </a:p>
        </p:txBody>
      </p:sp>
      <p:sp>
        <p:nvSpPr>
          <p:cNvPr id="6" name="Rounded Rectangle 5"/>
          <p:cNvSpPr/>
          <p:nvPr/>
        </p:nvSpPr>
        <p:spPr>
          <a:xfrm>
            <a:off x="6675120" y="1463040"/>
            <a:ext cx="4754880" cy="4754880"/>
          </a:xfrm>
          <a:prstGeom prst="roundRect">
            <a:avLst/>
          </a:prstGeom>
          <a:solidFill>
            <a:srgbClr val="151C2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500" b="1">
                <a:solidFill>
                  <a:srgbClr val="06B6D4"/>
                </a:solidFill>
              </a:defRPr>
            </a:pPr>
            <a:r>
              <a:t>📈 Model Performance &amp; Features</a:t>
            </a:r>
          </a:p>
        </p:txBody>
      </p:sp>
      <p:sp>
        <p:nvSpPr>
          <p:cNvPr id="8" name="Rounded Rectangle 7"/>
          <p:cNvSpPr/>
          <p:nvPr/>
        </p:nvSpPr>
        <p:spPr>
          <a:xfrm>
            <a:off x="6858000" y="2286000"/>
            <a:ext cx="2103120" cy="100584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2359152"/>
            <a:ext cx="1920239" cy="859536"/>
          </a:xfrm>
          <a:prstGeom prst="rect">
            <a:avLst/>
          </a:prstGeom>
          <a:noFill/>
        </p:spPr>
        <p:txBody>
          <a:bodyPr wrap="square" lIns="0" tIns="0" rIns="0" bIns="0">
            <a:spAutoFit/>
          </a:bodyPr>
          <a:lstStyle/>
          <a:p>
            <a:pPr algn="ctr">
              <a:defRPr sz="1800" b="1">
                <a:solidFill>
                  <a:srgbClr val="F59E0B"/>
                </a:solidFill>
              </a:defRPr>
            </a:pPr>
            <a:r>
              <a:t>10.30 W/m²</a:t>
            </a:r>
          </a:p>
          <a:p>
            <a:pPr algn="ctr">
              <a:defRPr sz="900" b="1">
                <a:solidFill>
                  <a:srgbClr val="94A3B8"/>
                </a:solidFill>
              </a:defRPr>
            </a:pPr>
            <a:r>
              <a:t>MEAN ABSOLUTE ERROR</a:t>
            </a:r>
          </a:p>
        </p:txBody>
      </p:sp>
      <p:sp>
        <p:nvSpPr>
          <p:cNvPr id="10" name="Rounded Rectangle 9"/>
          <p:cNvSpPr/>
          <p:nvPr/>
        </p:nvSpPr>
        <p:spPr>
          <a:xfrm>
            <a:off x="9144000" y="2286000"/>
            <a:ext cx="2103120" cy="100584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0" y="2359152"/>
            <a:ext cx="1920239" cy="859536"/>
          </a:xfrm>
          <a:prstGeom prst="rect">
            <a:avLst/>
          </a:prstGeom>
          <a:noFill/>
        </p:spPr>
        <p:txBody>
          <a:bodyPr wrap="square" lIns="0" tIns="0" rIns="0" bIns="0">
            <a:spAutoFit/>
          </a:bodyPr>
          <a:lstStyle/>
          <a:p>
            <a:pPr algn="ctr">
              <a:defRPr sz="1800" b="1">
                <a:solidFill>
                  <a:srgbClr val="06B6D4"/>
                </a:solidFill>
              </a:defRPr>
            </a:pPr>
            <a:r>
              <a:t>10.31 W/m²</a:t>
            </a:r>
          </a:p>
          <a:p>
            <a:pPr algn="ctr">
              <a:defRPr sz="900" b="1">
                <a:solidFill>
                  <a:srgbClr val="94A3B8"/>
                </a:solidFill>
              </a:defRPr>
            </a:pPr>
            <a:r>
              <a:t>ROOT MEAN SQ ERROR</a:t>
            </a:r>
          </a:p>
        </p:txBody>
      </p:sp>
      <p:sp>
        <p:nvSpPr>
          <p:cNvPr id="12" name="TextBox 11"/>
          <p:cNvSpPr txBox="1"/>
          <p:nvPr/>
        </p:nvSpPr>
        <p:spPr>
          <a:xfrm>
            <a:off x="6858000" y="3474720"/>
            <a:ext cx="4389120" cy="2560320"/>
          </a:xfrm>
          <a:prstGeom prst="rect">
            <a:avLst/>
          </a:prstGeom>
          <a:noFill/>
        </p:spPr>
        <p:txBody>
          <a:bodyPr wrap="square">
            <a:spAutoFit/>
          </a:bodyPr>
          <a:lstStyle/>
          <a:p>
            <a:pPr>
              <a:defRPr b="1" sz="1100">
                <a:solidFill>
                  <a:srgbClr val="F8FAFC"/>
                </a:solidFill>
              </a:defRPr>
            </a:pPr>
            <a:r>
              <a:t>Key Engineering Highlights:</a:t>
            </a:r>
          </a:p>
          <a:p>
            <a:pPr>
              <a:spcBef>
                <a:spcPts val="400"/>
              </a:spcBef>
              <a:defRPr sz="1000">
                <a:solidFill>
                  <a:srgbClr val="CBD5E1"/>
                </a:solidFill>
              </a:defRPr>
            </a:pPr>
            <a:r>
              <a:t>• Scaler Normalization: Robust StandardScaler ensures weather outliers do not saturate activations.</a:t>
            </a:r>
            <a:br/>
            <a:r>
              <a:t>• Night Zero-Clamping: Physical heuristics guarantee zero generation during astronomical night.</a:t>
            </a:r>
            <a:br/>
            <a:r>
              <a:t>• Dynamic Temperature Derating: Accounts for panel efficiency loss in extreme ambient heat.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AI PREDICTION LAYER</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Household Load Forecasting &amp; Probabilistic Bounds</a:t>
            </a:r>
          </a:p>
        </p:txBody>
      </p:sp>
      <p:sp>
        <p:nvSpPr>
          <p:cNvPr id="4" name="Rounded Rectangle 3"/>
          <p:cNvSpPr/>
          <p:nvPr/>
        </p:nvSpPr>
        <p:spPr>
          <a:xfrm>
            <a:off x="731520" y="1463040"/>
            <a:ext cx="5669280" cy="4754880"/>
          </a:xfrm>
          <a:prstGeom prst="roundRect">
            <a:avLst/>
          </a:prstGeom>
          <a:solidFill>
            <a:srgbClr val="151C2E"/>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8B5CF6"/>
                </a:solidFill>
              </a:defRPr>
            </a:pPr>
            <a:r>
              <a:t>🧠 Recurrent LSTM Load Forecaster</a:t>
            </a:r>
          </a:p>
          <a:p>
            <a:pPr>
              <a:spcBef>
                <a:spcPts val="600"/>
              </a:spcBef>
              <a:defRPr b="1" sz="1050">
                <a:solidFill>
                  <a:srgbClr val="F8FAFC"/>
                </a:solidFill>
              </a:defRPr>
            </a:pPr>
            <a:r>
              <a:t>• Sequence Modeling: </a:t>
            </a:r>
            <a:r>
              <a:rPr b="0">
                <a:solidFill>
                  <a:srgbClr val="94A3B8"/>
                </a:solidFill>
              </a:rPr>
              <a:t>Processes 12-step lookback historical demand sequences to capture temporal household behavioral rhythms.</a:t>
            </a:r>
          </a:p>
          <a:p>
            <a:pPr>
              <a:spcBef>
                <a:spcPts val="600"/>
              </a:spcBef>
              <a:defRPr b="1" sz="1050">
                <a:solidFill>
                  <a:srgbClr val="F8FAFC"/>
                </a:solidFill>
              </a:defRPr>
            </a:pPr>
            <a:r>
              <a:t>• Engineered Feature Space (19 features): </a:t>
            </a:r>
            <a:r>
              <a:rPr b="0">
                <a:solidFill>
                  <a:srgbClr val="94A3B8"/>
                </a:solidFill>
              </a:rPr>
              <a:t>Lags (t-1, t-2, t-3, t-4, t-8, t-12), Rolling Statistics (Mean 4, Std 4, Mean 8), Exponential Moving Average (EMA 4), and Peak-to-Average Ratio (PAR).</a:t>
            </a:r>
          </a:p>
          <a:p>
            <a:pPr>
              <a:spcBef>
                <a:spcPts val="600"/>
              </a:spcBef>
              <a:defRPr b="1" sz="1050">
                <a:solidFill>
                  <a:srgbClr val="F8FAFC"/>
                </a:solidFill>
              </a:defRPr>
            </a:pPr>
            <a:r>
              <a:t>• Dual-Layer LSTM Cell: </a:t>
            </a:r>
            <a:r>
              <a:rPr b="0">
                <a:solidFill>
                  <a:srgbClr val="94A3B8"/>
                </a:solidFill>
              </a:rPr>
              <a:t>2 stacked LSTM layers with hidden dimension 64, dropout regularization, and dense linear output mapping.</a:t>
            </a:r>
          </a:p>
          <a:p>
            <a:pPr>
              <a:spcBef>
                <a:spcPts val="600"/>
              </a:spcBef>
              <a:defRPr b="1" sz="1050">
                <a:solidFill>
                  <a:srgbClr val="F8FAFC"/>
                </a:solidFill>
              </a:defRPr>
            </a:pPr>
            <a:r>
              <a:t>• Evaluation Metrics: </a:t>
            </a:r>
            <a:r>
              <a:rPr b="0">
                <a:solidFill>
                  <a:srgbClr val="94A3B8"/>
                </a:solidFill>
              </a:rPr>
              <a:t>MAE = 0.180 kW | RMSE = 0.204 kW on unseen household validation splits.</a:t>
            </a:r>
          </a:p>
        </p:txBody>
      </p:sp>
      <p:sp>
        <p:nvSpPr>
          <p:cNvPr id="6" name="Rounded Rectangle 5"/>
          <p:cNvSpPr/>
          <p:nvPr/>
        </p:nvSpPr>
        <p:spPr>
          <a:xfrm>
            <a:off x="6675120" y="1463040"/>
            <a:ext cx="4754880" cy="4754880"/>
          </a:xfrm>
          <a:prstGeom prst="roundRect">
            <a:avLst/>
          </a:prstGeom>
          <a:solidFill>
            <a:srgbClr val="151C2E"/>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500" b="1">
                <a:solidFill>
                  <a:srgbClr val="06B6D4"/>
                </a:solidFill>
              </a:defRPr>
            </a:pPr>
            <a:r>
              <a:t>📉 Uncertainty &amp; Probabilistic Bounds</a:t>
            </a:r>
          </a:p>
          <a:p>
            <a:pPr>
              <a:spcBef>
                <a:spcPts val="600"/>
              </a:spcBef>
              <a:defRPr sz="1000">
                <a:solidFill>
                  <a:srgbClr val="CBD5E1"/>
                </a:solidFill>
              </a:defRPr>
            </a:pPr>
            <a:r>
              <a:t>Point forecasts fail to capture tail-risk spikes (e.g. EV charger startup, HVAC surge). SEMS computes empirical quantile confidence intervals:</a:t>
            </a:r>
            <a:br/>
            <a:br/>
            <a:r>
              <a:t>• P10 (Optimistic Lower Bound): 10th percentile minimum baseline demand.</a:t>
            </a:r>
            <a:br/>
            <a:r>
              <a:t>• P50 (Expected Median): Central forecast for baseline dispatch planning.</a:t>
            </a:r>
            <a:br/>
            <a:r>
              <a:t>• P90 (Stress-Test Upper Bound): 90th percentile peak demand for reserve allocation.</a:t>
            </a:r>
            <a:br/>
            <a:br/>
            <a:r>
              <a:t>Enables risk-aware reserve sizing to prevent accidental grid circuit tripping.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AI PREDICTION LAYER</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Dynamic Electricity Tariff &amp; Cost Prediction</a:t>
            </a:r>
          </a:p>
        </p:txBody>
      </p:sp>
      <p:sp>
        <p:nvSpPr>
          <p:cNvPr id="4" name="Rounded Rectangle 3"/>
          <p:cNvSpPr/>
          <p:nvPr/>
        </p:nvSpPr>
        <p:spPr>
          <a:xfrm>
            <a:off x="731520" y="1463040"/>
            <a:ext cx="5669280" cy="4754880"/>
          </a:xfrm>
          <a:prstGeom prst="roundRect">
            <a:avLst/>
          </a:prstGeom>
          <a:solidFill>
            <a:srgbClr val="151C2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10B981"/>
                </a:solidFill>
              </a:defRPr>
            </a:pPr>
            <a:r>
              <a:t>⚡ Gradient-Boosted Tariff Regressor</a:t>
            </a:r>
          </a:p>
          <a:p>
            <a:pPr>
              <a:spcBef>
                <a:spcPts val="600"/>
              </a:spcBef>
              <a:defRPr b="1" sz="1050">
                <a:solidFill>
                  <a:srgbClr val="F8FAFC"/>
                </a:solidFill>
              </a:defRPr>
            </a:pPr>
            <a:r>
              <a:t>• TNEB Tariff Modeling: </a:t>
            </a:r>
            <a:r>
              <a:rPr b="0">
                <a:solidFill>
                  <a:srgbClr val="94A3B8"/>
                </a:solidFill>
              </a:rPr>
              <a:t>Models non-linear domestic slab rates (0-100 units free, 101-200, 201-500, &gt;500 units progressive pricing).</a:t>
            </a:r>
          </a:p>
          <a:p>
            <a:pPr>
              <a:spcBef>
                <a:spcPts val="600"/>
              </a:spcBef>
              <a:defRPr b="1" sz="1050">
                <a:solidFill>
                  <a:srgbClr val="F8FAFC"/>
                </a:solidFill>
              </a:defRPr>
            </a:pPr>
            <a:r>
              <a:t>• Input Features: </a:t>
            </a:r>
            <a:r>
              <a:rPr b="0">
                <a:solidFill>
                  <a:srgbClr val="94A3B8"/>
                </a:solidFill>
              </a:rPr>
              <a:t>Units Consumed, Previous Reading, Current Reading, Tariff Tier Code, Prev Cycle Units, Consumption Trend, Month, Weekday.</a:t>
            </a:r>
          </a:p>
          <a:p>
            <a:pPr>
              <a:spcBef>
                <a:spcPts val="600"/>
              </a:spcBef>
              <a:defRPr b="1" sz="1050">
                <a:solidFill>
                  <a:srgbClr val="F8FAFC"/>
                </a:solidFill>
              </a:defRPr>
            </a:pPr>
            <a:r>
              <a:t>• High-Precision Accuracy: </a:t>
            </a:r>
            <a:r>
              <a:rPr b="0">
                <a:solidFill>
                  <a:srgbClr val="94A3B8"/>
                </a:solidFill>
              </a:rPr>
              <a:t>Achieved R² = 0.9848, MAE = 0.253 ₹/unit, RMSE = 0.438 ₹/unit on test splits.</a:t>
            </a:r>
          </a:p>
          <a:p>
            <a:pPr>
              <a:spcBef>
                <a:spcPts val="600"/>
              </a:spcBef>
              <a:defRPr b="1" sz="1050">
                <a:solidFill>
                  <a:srgbClr val="F8FAFC"/>
                </a:solidFill>
              </a:defRPr>
            </a:pPr>
            <a:r>
              <a:t>• Economic Arbitrage: </a:t>
            </a:r>
            <a:r>
              <a:rPr b="0">
                <a:solidFill>
                  <a:srgbClr val="94A3B8"/>
                </a:solidFill>
              </a:rPr>
              <a:t>Provides forward cost-per-unit signals allowing the optimizer to discharge battery during high-slab intervals and recharge when rates are low.</a:t>
            </a:r>
          </a:p>
        </p:txBody>
      </p:sp>
      <p:sp>
        <p:nvSpPr>
          <p:cNvPr id="6" name="Rounded Rectangle 5"/>
          <p:cNvSpPr/>
          <p:nvPr/>
        </p:nvSpPr>
        <p:spPr>
          <a:xfrm>
            <a:off x="6675120" y="1463040"/>
            <a:ext cx="4754880" cy="4754880"/>
          </a:xfrm>
          <a:prstGeom prst="roundRect">
            <a:avLst/>
          </a:prstGeom>
          <a:solidFill>
            <a:srgbClr val="151C2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500" b="1">
                <a:solidFill>
                  <a:srgbClr val="06B6D4"/>
                </a:solidFill>
              </a:defRPr>
            </a:pPr>
            <a:r>
              <a:t>📊 Model Benchmark Metrics</a:t>
            </a:r>
          </a:p>
        </p:txBody>
      </p:sp>
      <p:sp>
        <p:nvSpPr>
          <p:cNvPr id="8" name="Rounded Rectangle 7"/>
          <p:cNvSpPr/>
          <p:nvPr/>
        </p:nvSpPr>
        <p:spPr>
          <a:xfrm>
            <a:off x="6858000" y="2286000"/>
            <a:ext cx="2103120" cy="100584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2359152"/>
            <a:ext cx="1920239" cy="859536"/>
          </a:xfrm>
          <a:prstGeom prst="rect">
            <a:avLst/>
          </a:prstGeom>
          <a:noFill/>
        </p:spPr>
        <p:txBody>
          <a:bodyPr wrap="square" lIns="0" tIns="0" rIns="0" bIns="0">
            <a:spAutoFit/>
          </a:bodyPr>
          <a:lstStyle/>
          <a:p>
            <a:pPr algn="ctr">
              <a:defRPr sz="1800" b="1">
                <a:solidFill>
                  <a:srgbClr val="10B981"/>
                </a:solidFill>
              </a:defRPr>
            </a:pPr>
            <a:r>
              <a:t>0.9848</a:t>
            </a:r>
          </a:p>
          <a:p>
            <a:pPr algn="ctr">
              <a:defRPr sz="900" b="1">
                <a:solidFill>
                  <a:srgbClr val="94A3B8"/>
                </a:solidFill>
              </a:defRPr>
            </a:pPr>
            <a:r>
              <a:t>COEFFICIENT OF DET. (R²)</a:t>
            </a:r>
          </a:p>
        </p:txBody>
      </p:sp>
      <p:sp>
        <p:nvSpPr>
          <p:cNvPr id="10" name="Rounded Rectangle 9"/>
          <p:cNvSpPr/>
          <p:nvPr/>
        </p:nvSpPr>
        <p:spPr>
          <a:xfrm>
            <a:off x="9144000" y="2286000"/>
            <a:ext cx="2103120" cy="100584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0" y="2359152"/>
            <a:ext cx="1920239" cy="859536"/>
          </a:xfrm>
          <a:prstGeom prst="rect">
            <a:avLst/>
          </a:prstGeom>
          <a:noFill/>
        </p:spPr>
        <p:txBody>
          <a:bodyPr wrap="square" lIns="0" tIns="0" rIns="0" bIns="0">
            <a:spAutoFit/>
          </a:bodyPr>
          <a:lstStyle/>
          <a:p>
            <a:pPr algn="ctr">
              <a:defRPr sz="1800" b="1">
                <a:solidFill>
                  <a:srgbClr val="F59E0B"/>
                </a:solidFill>
              </a:defRPr>
            </a:pPr>
            <a:r>
              <a:t>₹0.253</a:t>
            </a:r>
          </a:p>
          <a:p>
            <a:pPr algn="ctr">
              <a:defRPr sz="900" b="1">
                <a:solidFill>
                  <a:srgbClr val="94A3B8"/>
                </a:solidFill>
              </a:defRPr>
            </a:pPr>
            <a:r>
              <a:t>MEAN ABSOLUTE ERROR</a:t>
            </a:r>
          </a:p>
        </p:txBody>
      </p:sp>
      <p:sp>
        <p:nvSpPr>
          <p:cNvPr id="12" name="TextBox 11"/>
          <p:cNvSpPr txBox="1"/>
          <p:nvPr/>
        </p:nvSpPr>
        <p:spPr>
          <a:xfrm>
            <a:off x="6858000" y="3474720"/>
            <a:ext cx="4389120" cy="2560320"/>
          </a:xfrm>
          <a:prstGeom prst="rect">
            <a:avLst/>
          </a:prstGeom>
          <a:noFill/>
        </p:spPr>
        <p:txBody>
          <a:bodyPr wrap="square">
            <a:spAutoFit/>
          </a:bodyPr>
          <a:lstStyle/>
          <a:p>
            <a:pPr>
              <a:defRPr b="1" sz="1100">
                <a:solidFill>
                  <a:srgbClr val="F8FAFC"/>
                </a:solidFill>
              </a:defRPr>
            </a:pPr>
            <a:r>
              <a:t>TNEB Slab Structure Optimization:</a:t>
            </a:r>
          </a:p>
          <a:p>
            <a:pPr>
              <a:spcBef>
                <a:spcPts val="400"/>
              </a:spcBef>
              <a:defRPr sz="950">
                <a:solidFill>
                  <a:srgbClr val="CBD5E1"/>
                </a:solidFill>
              </a:defRPr>
            </a:pPr>
            <a:r>
              <a:t>• Tier 1 (0-100 Units): Baseline subsidized tier.</a:t>
            </a:r>
            <a:br/>
            <a:r>
              <a:t>• Tier 2 (101-200 Units): Moderate domestic tariff.</a:t>
            </a:r>
            <a:br/>
            <a:r>
              <a:t>• Tier 3 (201-500 Units): Steep progressive tier slope.</a:t>
            </a:r>
            <a:br/>
            <a:r>
              <a:t>• Tier 4 (&gt;500 Units): Peak penalty rate tier.</a:t>
            </a:r>
            <a:br/>
            <a:br/>
            <a:r>
              <a:t>SEMS proactively caps consumption to stay below costly slab thresholds.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REINFORCEMENT LEARNING</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Deep Q-Network (DQN) Optimal Dispatch Policy</a:t>
            </a:r>
          </a:p>
        </p:txBody>
      </p:sp>
      <p:sp>
        <p:nvSpPr>
          <p:cNvPr id="4" name="Rounded Rectangle 3"/>
          <p:cNvSpPr/>
          <p:nvPr/>
        </p:nvSpPr>
        <p:spPr>
          <a:xfrm>
            <a:off x="731520" y="1463040"/>
            <a:ext cx="5669280" cy="4754880"/>
          </a:xfrm>
          <a:prstGeom prst="roundRect">
            <a:avLst/>
          </a:prstGeom>
          <a:solidFill>
            <a:srgbClr val="151C2E"/>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8B5CF6"/>
                </a:solidFill>
              </a:defRPr>
            </a:pPr>
            <a:r>
              <a:t>🤖 Reinforcement Learning Formulation</a:t>
            </a:r>
          </a:p>
          <a:p>
            <a:pPr>
              <a:spcBef>
                <a:spcPts val="500"/>
              </a:spcBef>
              <a:defRPr b="1" sz="1000">
                <a:solidFill>
                  <a:srgbClr val="F8FAFC"/>
                </a:solidFill>
              </a:defRPr>
            </a:pPr>
            <a:r>
              <a:t>• State Space S ∈ ℝ⁶: </a:t>
            </a:r>
            <a:r>
              <a:rPr b="0">
                <a:solidFill>
                  <a:srgbClr val="94A3B8"/>
                </a:solidFill>
              </a:rPr>
              <a:t>Solar Generation (kW), Household Load (kW), Battery SOC (%), Tariff Price (₹/kWh), Hour of Day, Grid Available (bool).</a:t>
            </a:r>
          </a:p>
          <a:p>
            <a:pPr>
              <a:spcBef>
                <a:spcPts val="500"/>
              </a:spcBef>
              <a:defRPr b="1" sz="1000">
                <a:solidFill>
                  <a:srgbClr val="F8FAFC"/>
                </a:solidFill>
              </a:defRPr>
            </a:pPr>
            <a:r>
              <a:t>• Action Space A ∈ {0,1,2,3}: </a:t>
            </a:r>
            <a:r>
              <a:rPr b="0">
                <a:solidFill>
                  <a:srgbClr val="94A3B8"/>
                </a:solidFill>
              </a:rPr>
              <a:t>0: PRIORITY_HYBRID | 1: BATTERY_CONSERVATION | 2: PEAK_SHAVING | 3: GRID_MINIMIZE.</a:t>
            </a:r>
          </a:p>
          <a:p>
            <a:pPr>
              <a:spcBef>
                <a:spcPts val="500"/>
              </a:spcBef>
              <a:defRPr b="1" sz="1000">
                <a:solidFill>
                  <a:srgbClr val="F8FAFC"/>
                </a:solidFill>
              </a:defRPr>
            </a:pPr>
            <a:r>
              <a:t>• Multi-Objective Reward Function: </a:t>
            </a:r>
            <a:r>
              <a:rPr b="0">
                <a:solidFill>
                  <a:srgbClr val="94A3B8"/>
                </a:solidFill>
              </a:rPr>
              <a:t>R = - (w₁ · Grid Cost) - (w₂ · Battery Degradation Penalty) + (w₃ · Self-Consumption Ratio) - (w₄ · Deficit Penalty).</a:t>
            </a:r>
          </a:p>
          <a:p>
            <a:pPr>
              <a:spcBef>
                <a:spcPts val="500"/>
              </a:spcBef>
              <a:defRPr b="1" sz="1000">
                <a:solidFill>
                  <a:srgbClr val="F8FAFC"/>
                </a:solidFill>
              </a:defRPr>
            </a:pPr>
            <a:r>
              <a:t>• Experience Replay &amp; Target Net: </a:t>
            </a:r>
            <a:r>
              <a:rPr b="0">
                <a:solidFill>
                  <a:srgbClr val="94A3B8"/>
                </a:solidFill>
              </a:rPr>
              <a:t>Memory buffer = 10,000 transitions, Batch size = 64, Target network update frequency = 10 episodes, Discount factor γ = 0.95.</a:t>
            </a:r>
          </a:p>
        </p:txBody>
      </p:sp>
      <p:sp>
        <p:nvSpPr>
          <p:cNvPr id="6" name="Rounded Rectangle 5"/>
          <p:cNvSpPr/>
          <p:nvPr/>
        </p:nvSpPr>
        <p:spPr>
          <a:xfrm>
            <a:off x="6675120" y="1463040"/>
            <a:ext cx="4754880" cy="4754880"/>
          </a:xfrm>
          <a:prstGeom prst="roundRect">
            <a:avLst/>
          </a:prstGeom>
          <a:solidFill>
            <a:srgbClr val="151C2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500" b="1">
                <a:solidFill>
                  <a:srgbClr val="06B6D4"/>
                </a:solidFill>
              </a:defRPr>
            </a:pPr>
            <a:r>
              <a:t>🏆 DQN Training Convergence</a:t>
            </a:r>
          </a:p>
        </p:txBody>
      </p:sp>
      <p:sp>
        <p:nvSpPr>
          <p:cNvPr id="8" name="Rounded Rectangle 7"/>
          <p:cNvSpPr/>
          <p:nvPr/>
        </p:nvSpPr>
        <p:spPr>
          <a:xfrm>
            <a:off x="6858000" y="2286000"/>
            <a:ext cx="2103120" cy="100584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2359152"/>
            <a:ext cx="1920239" cy="859536"/>
          </a:xfrm>
          <a:prstGeom prst="rect">
            <a:avLst/>
          </a:prstGeom>
          <a:noFill/>
        </p:spPr>
        <p:txBody>
          <a:bodyPr wrap="square" lIns="0" tIns="0" rIns="0" bIns="0">
            <a:spAutoFit/>
          </a:bodyPr>
          <a:lstStyle/>
          <a:p>
            <a:pPr algn="ctr">
              <a:defRPr sz="1800" b="1">
                <a:solidFill>
                  <a:srgbClr val="10B981"/>
                </a:solidFill>
              </a:defRPr>
            </a:pPr>
            <a:r>
              <a:t>+86.85</a:t>
            </a:r>
          </a:p>
          <a:p>
            <a:pPr algn="ctr">
              <a:defRPr sz="900" b="1">
                <a:solidFill>
                  <a:srgbClr val="94A3B8"/>
                </a:solidFill>
              </a:defRPr>
            </a:pPr>
            <a:r>
              <a:t>MEAN REWARD (LAST 50)</a:t>
            </a:r>
          </a:p>
        </p:txBody>
      </p:sp>
      <p:sp>
        <p:nvSpPr>
          <p:cNvPr id="10" name="Rounded Rectangle 9"/>
          <p:cNvSpPr/>
          <p:nvPr/>
        </p:nvSpPr>
        <p:spPr>
          <a:xfrm>
            <a:off x="9144000" y="2286000"/>
            <a:ext cx="2103120" cy="1005840"/>
          </a:xfrm>
          <a:prstGeom prst="roundRect">
            <a:avLst/>
          </a:prstGeom>
          <a:solidFill>
            <a:srgbClr val="1E293B"/>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0" y="2359152"/>
            <a:ext cx="1920239" cy="859536"/>
          </a:xfrm>
          <a:prstGeom prst="rect">
            <a:avLst/>
          </a:prstGeom>
          <a:noFill/>
        </p:spPr>
        <p:txBody>
          <a:bodyPr wrap="square" lIns="0" tIns="0" rIns="0" bIns="0">
            <a:spAutoFit/>
          </a:bodyPr>
          <a:lstStyle/>
          <a:p>
            <a:pPr algn="ctr">
              <a:defRPr sz="1800" b="1">
                <a:solidFill>
                  <a:srgbClr val="8B5CF6"/>
                </a:solidFill>
              </a:defRPr>
            </a:pPr>
            <a:r>
              <a:t>300 Ep</a:t>
            </a:r>
          </a:p>
          <a:p>
            <a:pPr algn="ctr">
              <a:defRPr sz="900" b="1">
                <a:solidFill>
                  <a:srgbClr val="94A3B8"/>
                </a:solidFill>
              </a:defRPr>
            </a:pPr>
            <a:r>
              <a:t>EPISODES TRAINED</a:t>
            </a:r>
          </a:p>
        </p:txBody>
      </p:sp>
      <p:sp>
        <p:nvSpPr>
          <p:cNvPr id="12" name="TextBox 11"/>
          <p:cNvSpPr txBox="1"/>
          <p:nvPr/>
        </p:nvSpPr>
        <p:spPr>
          <a:xfrm>
            <a:off x="6858000" y="3474720"/>
            <a:ext cx="4389120" cy="2560320"/>
          </a:xfrm>
          <a:prstGeom prst="rect">
            <a:avLst/>
          </a:prstGeom>
          <a:noFill/>
        </p:spPr>
        <p:txBody>
          <a:bodyPr wrap="square">
            <a:spAutoFit/>
          </a:bodyPr>
          <a:lstStyle/>
          <a:p>
            <a:pPr>
              <a:defRPr b="1" sz="1100">
                <a:solidFill>
                  <a:srgbClr val="F8FAFC"/>
                </a:solidFill>
              </a:defRPr>
            </a:pPr>
            <a:r>
              <a:t>Learned Action Distribution:</a:t>
            </a:r>
          </a:p>
          <a:p>
            <a:pPr>
              <a:spcBef>
                <a:spcPts val="400"/>
              </a:spcBef>
              <a:defRPr sz="950">
                <a:solidFill>
                  <a:srgbClr val="CBD5E1"/>
                </a:solidFill>
              </a:defRPr>
            </a:pPr>
            <a:r>
              <a:t>• PEAK_SHAVING (31.0%): Triggered during expensive evening spikes to bypass high tariffs.</a:t>
            </a:r>
            <a:br/>
            <a:r>
              <a:t>• BATTERY_CONSERVATION (26.0%): Protects battery health during mid-day solar abundance.</a:t>
            </a:r>
            <a:br/>
            <a:r>
              <a:t>• GRID_MINIMIZE (24.6%): Maximizes local renewable consumption.</a:t>
            </a:r>
            <a:br/>
            <a:r>
              <a:t>• PRIORITY_HYBRID (18.4%): Balanced multi-source supply.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TRANSPARENCY &amp; TRUST</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Explainable AI (XAI) &amp; Decision Justifications</a:t>
            </a:r>
          </a:p>
        </p:txBody>
      </p:sp>
      <p:sp>
        <p:nvSpPr>
          <p:cNvPr id="4" name="Rounded Rectangle 3"/>
          <p:cNvSpPr/>
          <p:nvPr/>
        </p:nvSpPr>
        <p:spPr>
          <a:xfrm>
            <a:off x="731520" y="1463040"/>
            <a:ext cx="5669280" cy="4754880"/>
          </a:xfrm>
          <a:prstGeom prst="roundRect">
            <a:avLst/>
          </a:prstGeom>
          <a:solidFill>
            <a:srgbClr val="151C2E"/>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06B6D4"/>
                </a:solidFill>
              </a:defRPr>
            </a:pPr>
            <a:r>
              <a:t>🔍 Interpretable Decision Architecture</a:t>
            </a:r>
          </a:p>
          <a:p>
            <a:pPr>
              <a:spcBef>
                <a:spcPts val="600"/>
              </a:spcBef>
              <a:defRPr b="1" sz="1000">
                <a:solidFill>
                  <a:srgbClr val="F8FAFC"/>
                </a:solidFill>
              </a:defRPr>
            </a:pPr>
            <a:r>
              <a:t>• The 'Black-Box' Trust Deficit: </a:t>
            </a:r>
            <a:r>
              <a:rPr b="0">
                <a:solidFill>
                  <a:srgbClr val="94A3B8"/>
                </a:solidFill>
              </a:rPr>
              <a:t>Users will not adopt automated microgrid managers if they cannot understand why a battery is charging, discharging, or idling.</a:t>
            </a:r>
          </a:p>
          <a:p>
            <a:pPr>
              <a:spcBef>
                <a:spcPts val="600"/>
              </a:spcBef>
              <a:defRPr b="1" sz="1000">
                <a:solidFill>
                  <a:srgbClr val="F8FAFC"/>
                </a:solidFill>
              </a:defRPr>
            </a:pPr>
            <a:r>
              <a:t>• SHAP (Shapley Additive exPlanations): </a:t>
            </a:r>
            <a:r>
              <a:rPr b="0">
                <a:solidFill>
                  <a:srgbClr val="94A3B8"/>
                </a:solidFill>
              </a:rPr>
              <a:t>Calculates game-theoretic marginal feature contributions for solar, load, and tariff predictions.</a:t>
            </a:r>
          </a:p>
          <a:p>
            <a:pPr>
              <a:spcBef>
                <a:spcPts val="600"/>
              </a:spcBef>
              <a:defRPr b="1" sz="1000">
                <a:solidFill>
                  <a:srgbClr val="F8FAFC"/>
                </a:solidFill>
              </a:defRPr>
            </a:pPr>
            <a:r>
              <a:t>• Contextual Natural Language Reasoner: </a:t>
            </a:r>
            <a:r>
              <a:rPr b="0">
                <a:solidFill>
                  <a:srgbClr val="94A3B8"/>
                </a:solidFill>
              </a:rPr>
              <a:t>Translates numerical neural weights and allocation states into concise human-readable explanations (e.g. 'Discharging battery: Solar is insufficient (0.0 kW) and electricity tariff is high (₹7.50/kWh)').</a:t>
            </a:r>
          </a:p>
          <a:p>
            <a:pPr>
              <a:spcBef>
                <a:spcPts val="600"/>
              </a:spcBef>
              <a:defRPr b="1" sz="1000">
                <a:solidFill>
                  <a:srgbClr val="F8FAFC"/>
                </a:solidFill>
              </a:defRPr>
            </a:pPr>
            <a:r>
              <a:t>• Real-Time Confidence Scoring: </a:t>
            </a:r>
            <a:r>
              <a:rPr b="0">
                <a:solidFill>
                  <a:srgbClr val="94A3B8"/>
                </a:solidFill>
              </a:rPr>
              <a:t>Outputs decision confidence percentage based on forecast entropy and hardware telemetry latency.</a:t>
            </a:r>
          </a:p>
        </p:txBody>
      </p:sp>
      <p:sp>
        <p:nvSpPr>
          <p:cNvPr id="6" name="Rounded Rectangle 5"/>
          <p:cNvSpPr/>
          <p:nvPr/>
        </p:nvSpPr>
        <p:spPr>
          <a:xfrm>
            <a:off x="6675120" y="1463040"/>
            <a:ext cx="4754880" cy="4754880"/>
          </a:xfrm>
          <a:prstGeom prst="roundRect">
            <a:avLst/>
          </a:prstGeom>
          <a:solidFill>
            <a:srgbClr val="151C2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500" b="1">
                <a:solidFill>
                  <a:srgbClr val="F59E0B"/>
                </a:solidFill>
              </a:defRPr>
            </a:pPr>
            <a:r>
              <a:t>💬 Live XAI Output Samples</a:t>
            </a:r>
          </a:p>
          <a:p>
            <a:br/>
            <a:pPr>
              <a:defRPr b="1" sz="1050">
                <a:solidFill>
                  <a:srgbClr val="10B981"/>
                </a:solidFill>
              </a:defRPr>
            </a:pPr>
            <a:r>
              <a:t>Strategy: SOLAR + BATTERY</a:t>
            </a:r>
          </a:p>
          <a:p>
            <a:pPr>
              <a:defRPr sz="950">
                <a:solidFill>
                  <a:srgbClr val="CBD5E1"/>
                </a:solidFill>
              </a:defRPr>
            </a:pPr>
            <a:r>
              <a:t>Solar output (2.4 kW) partially covers 3.5 kW load. Battery provides remaining 1.1 kW to avoid high grid tariff (₹8.20/kWh). Battery remains at healthy 62% SOC.</a:t>
            </a:r>
          </a:p>
          <a:p>
            <a:br/>
            <a:pPr>
              <a:defRPr b="1" sz="1050">
                <a:solidFill>
                  <a:srgbClr val="10B981"/>
                </a:solidFill>
              </a:defRPr>
            </a:pPr>
            <a:r>
              <a:t>Strategy: BATTERY CONSERVATION</a:t>
            </a:r>
          </a:p>
          <a:p>
            <a:pPr>
              <a:defRPr sz="950">
                <a:solidFill>
                  <a:srgbClr val="CBD5E1"/>
                </a:solidFill>
              </a:defRPr>
            </a:pPr>
            <a:r>
              <a:t>Solar generation (4.2 kW) exceeds demand (1.8 kW). Surplus (2.4 kW) directed to BESS. Grid import is 0 kW. Carbon savings: 1.62 kg CO₂/hr.</a:t>
            </a:r>
          </a:p>
          <a:p>
            <a:br/>
            <a:pPr>
              <a:defRPr b="1" sz="1050">
                <a:solidFill>
                  <a:srgbClr val="10B981"/>
                </a:solidFill>
              </a:defRPr>
            </a:pPr>
            <a:r>
              <a:t>Strategy: PEAK SHAVING DISPATCH</a:t>
            </a:r>
          </a:p>
          <a:p>
            <a:pPr>
              <a:defRPr sz="950">
                <a:solidFill>
                  <a:srgbClr val="CBD5E1"/>
                </a:solidFill>
              </a:defRPr>
            </a:pPr>
            <a:r>
              <a:t>TNEB Tier 3 peak pricing active. Battery discharged at max 3.5 kW to shave peak load and prevent tier penalty.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EXPANDED ECOSYSTEM</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Advanced Microgrid &amp; Smart Grid Services</a:t>
            </a:r>
          </a:p>
        </p:txBody>
      </p:sp>
      <p:sp>
        <p:nvSpPr>
          <p:cNvPr id="4" name="Rounded Rectangle 3"/>
          <p:cNvSpPr/>
          <p:nvPr/>
        </p:nvSpPr>
        <p:spPr>
          <a:xfrm>
            <a:off x="731520" y="1463040"/>
            <a:ext cx="5257800" cy="2240280"/>
          </a:xfrm>
          <a:prstGeom prst="roundRect">
            <a:avLst/>
          </a:prstGeom>
          <a:solidFill>
            <a:srgbClr val="151C2E"/>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4983480" cy="1965960"/>
          </a:xfrm>
          <a:prstGeom prst="rect">
            <a:avLst/>
          </a:prstGeom>
          <a:noFill/>
        </p:spPr>
        <p:txBody>
          <a:bodyPr wrap="square">
            <a:spAutoFit/>
          </a:bodyPr>
          <a:lstStyle/>
          <a:p>
            <a:pPr>
              <a:defRPr sz="1300" b="1">
                <a:solidFill>
                  <a:srgbClr val="06B6D4"/>
                </a:solidFill>
              </a:defRPr>
            </a:pPr>
            <a:r>
              <a:t>🚗 EV Charging Optimizer</a:t>
            </a:r>
          </a:p>
          <a:p>
            <a:pPr>
              <a:spcBef>
                <a:spcPts val="300"/>
              </a:spcBef>
              <a:defRPr sz="950">
                <a:solidFill>
                  <a:srgbClr val="CBD5E1"/>
                </a:solidFill>
              </a:defRPr>
            </a:pPr>
            <a:r>
              <a:t>• Dynamically schedules Electric Vehicle charging</a:t>
            </a:r>
          </a:p>
          <a:p>
            <a:pPr>
              <a:spcBef>
                <a:spcPts val="300"/>
              </a:spcBef>
              <a:defRPr sz="950">
                <a:solidFill>
                  <a:srgbClr val="CBD5E1"/>
                </a:solidFill>
              </a:defRPr>
            </a:pPr>
            <a:r>
              <a:t>• Coordinates with solar peak windows</a:t>
            </a:r>
          </a:p>
          <a:p>
            <a:pPr>
              <a:spcBef>
                <a:spcPts val="300"/>
              </a:spcBef>
              <a:defRPr sz="950">
                <a:solidFill>
                  <a:srgbClr val="CBD5E1"/>
                </a:solidFill>
              </a:defRPr>
            </a:pPr>
            <a:r>
              <a:t>• Avoids peak grid tariff hours</a:t>
            </a:r>
          </a:p>
          <a:p>
            <a:pPr>
              <a:spcBef>
                <a:spcPts val="300"/>
              </a:spcBef>
              <a:defRPr sz="950">
                <a:solidFill>
                  <a:srgbClr val="CBD5E1"/>
                </a:solidFill>
              </a:defRPr>
            </a:pPr>
            <a:r>
              <a:t>• Ensures vehicle readiness by morning target time</a:t>
            </a:r>
          </a:p>
        </p:txBody>
      </p:sp>
      <p:sp>
        <p:nvSpPr>
          <p:cNvPr id="6" name="Rounded Rectangle 5"/>
          <p:cNvSpPr/>
          <p:nvPr/>
        </p:nvSpPr>
        <p:spPr>
          <a:xfrm>
            <a:off x="6172200" y="1463040"/>
            <a:ext cx="5257800" cy="2240280"/>
          </a:xfrm>
          <a:prstGeom prst="roundRect">
            <a:avLst/>
          </a:prstGeom>
          <a:solidFill>
            <a:srgbClr val="151C2E"/>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00200"/>
            <a:ext cx="4983480" cy="1965960"/>
          </a:xfrm>
          <a:prstGeom prst="rect">
            <a:avLst/>
          </a:prstGeom>
          <a:noFill/>
        </p:spPr>
        <p:txBody>
          <a:bodyPr wrap="square">
            <a:spAutoFit/>
          </a:bodyPr>
          <a:lstStyle/>
          <a:p>
            <a:pPr>
              <a:defRPr sz="1300" b="1">
                <a:solidFill>
                  <a:srgbClr val="F59E0B"/>
                </a:solidFill>
              </a:defRPr>
            </a:pPr>
            <a:r>
              <a:t>🏠 Smart Appliance Manager</a:t>
            </a:r>
          </a:p>
          <a:p>
            <a:pPr>
              <a:spcBef>
                <a:spcPts val="300"/>
              </a:spcBef>
              <a:defRPr sz="950">
                <a:solidFill>
                  <a:srgbClr val="CBD5E1"/>
                </a:solidFill>
              </a:defRPr>
            </a:pPr>
            <a:r>
              <a:t>• Controls deferrable loads (washing machine, heat pump)</a:t>
            </a:r>
          </a:p>
          <a:p>
            <a:pPr>
              <a:spcBef>
                <a:spcPts val="300"/>
              </a:spcBef>
              <a:defRPr sz="950">
                <a:solidFill>
                  <a:srgbClr val="CBD5E1"/>
                </a:solidFill>
              </a:defRPr>
            </a:pPr>
            <a:r>
              <a:t>• Automated load shifting to zero-cost solar hours</a:t>
            </a:r>
          </a:p>
          <a:p>
            <a:pPr>
              <a:spcBef>
                <a:spcPts val="300"/>
              </a:spcBef>
              <a:defRPr sz="950">
                <a:solidFill>
                  <a:srgbClr val="CBD5E1"/>
                </a:solidFill>
              </a:defRPr>
            </a:pPr>
            <a:r>
              <a:t>• Reduces peak demand by up to 34%</a:t>
            </a:r>
          </a:p>
          <a:p>
            <a:pPr>
              <a:spcBef>
                <a:spcPts val="300"/>
              </a:spcBef>
              <a:defRPr sz="950">
                <a:solidFill>
                  <a:srgbClr val="CBD5E1"/>
                </a:solidFill>
              </a:defRPr>
            </a:pPr>
            <a:r>
              <a:t>• User-defined comfort priority overrides</a:t>
            </a:r>
          </a:p>
        </p:txBody>
      </p:sp>
      <p:sp>
        <p:nvSpPr>
          <p:cNvPr id="8" name="Rounded Rectangle 7"/>
          <p:cNvSpPr/>
          <p:nvPr/>
        </p:nvSpPr>
        <p:spPr>
          <a:xfrm>
            <a:off x="731520" y="3886200"/>
            <a:ext cx="5257800" cy="2240280"/>
          </a:xfrm>
          <a:prstGeom prst="roundRect">
            <a:avLst/>
          </a:prstGeom>
          <a:solidFill>
            <a:srgbClr val="151C2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023360"/>
            <a:ext cx="4983480" cy="1965960"/>
          </a:xfrm>
          <a:prstGeom prst="rect">
            <a:avLst/>
          </a:prstGeom>
          <a:noFill/>
        </p:spPr>
        <p:txBody>
          <a:bodyPr wrap="square">
            <a:spAutoFit/>
          </a:bodyPr>
          <a:lstStyle/>
          <a:p>
            <a:pPr>
              <a:defRPr sz="1300" b="1">
                <a:solidFill>
                  <a:srgbClr val="10B981"/>
                </a:solidFill>
              </a:defRPr>
            </a:pPr>
            <a:r>
              <a:t>⚡ P2P Microgrid Energy Trading</a:t>
            </a:r>
          </a:p>
          <a:p>
            <a:pPr>
              <a:spcBef>
                <a:spcPts val="300"/>
              </a:spcBef>
              <a:defRPr sz="950">
                <a:solidFill>
                  <a:srgbClr val="CBD5E1"/>
                </a:solidFill>
              </a:defRPr>
            </a:pPr>
            <a:r>
              <a:t>• Simulates local peer-to-peer energy exchange</a:t>
            </a:r>
          </a:p>
          <a:p>
            <a:pPr>
              <a:spcBef>
                <a:spcPts val="300"/>
              </a:spcBef>
              <a:defRPr sz="950">
                <a:solidFill>
                  <a:srgbClr val="CBD5E1"/>
                </a:solidFill>
              </a:defRPr>
            </a:pPr>
            <a:r>
              <a:t>• Auction mechanism for prosumers &amp; consumers</a:t>
            </a:r>
          </a:p>
          <a:p>
            <a:pPr>
              <a:spcBef>
                <a:spcPts val="300"/>
              </a:spcBef>
              <a:defRPr sz="950">
                <a:solidFill>
                  <a:srgbClr val="CBD5E1"/>
                </a:solidFill>
              </a:defRPr>
            </a:pPr>
            <a:r>
              <a:t>• Higher feed-in price than utility export</a:t>
            </a:r>
          </a:p>
          <a:p>
            <a:pPr>
              <a:spcBef>
                <a:spcPts val="300"/>
              </a:spcBef>
              <a:defRPr sz="950">
                <a:solidFill>
                  <a:srgbClr val="CBD5E1"/>
                </a:solidFill>
              </a:defRPr>
            </a:pPr>
            <a:r>
              <a:t>• Cryptographically signed transaction log</a:t>
            </a:r>
          </a:p>
        </p:txBody>
      </p:sp>
      <p:sp>
        <p:nvSpPr>
          <p:cNvPr id="10" name="Rounded Rectangle 9"/>
          <p:cNvSpPr/>
          <p:nvPr/>
        </p:nvSpPr>
        <p:spPr>
          <a:xfrm>
            <a:off x="6172200" y="3886200"/>
            <a:ext cx="5257800" cy="2240280"/>
          </a:xfrm>
          <a:prstGeom prst="roundRect">
            <a:avLst/>
          </a:prstGeom>
          <a:solidFill>
            <a:srgbClr val="151C2E"/>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023360"/>
            <a:ext cx="4983480" cy="1965960"/>
          </a:xfrm>
          <a:prstGeom prst="rect">
            <a:avLst/>
          </a:prstGeom>
          <a:noFill/>
        </p:spPr>
        <p:txBody>
          <a:bodyPr wrap="square">
            <a:spAutoFit/>
          </a:bodyPr>
          <a:lstStyle/>
          <a:p>
            <a:pPr>
              <a:defRPr sz="1300" b="1">
                <a:solidFill>
                  <a:srgbClr val="8B5CF6"/>
                </a:solidFill>
              </a:defRPr>
            </a:pPr>
            <a:r>
              <a:t>🛡️ Anomaly &amp; Carbon Tracker</a:t>
            </a:r>
          </a:p>
          <a:p>
            <a:pPr>
              <a:spcBef>
                <a:spcPts val="300"/>
              </a:spcBef>
              <a:defRPr sz="950">
                <a:solidFill>
                  <a:srgbClr val="CBD5E1"/>
                </a:solidFill>
              </a:defRPr>
            </a:pPr>
            <a:r>
              <a:t>• Isolation Forest detects meter/inverter faults</a:t>
            </a:r>
          </a:p>
          <a:p>
            <a:pPr>
              <a:spcBef>
                <a:spcPts val="300"/>
              </a:spcBef>
              <a:defRPr sz="950">
                <a:solidFill>
                  <a:srgbClr val="CBD5E1"/>
                </a:solidFill>
              </a:defRPr>
            </a:pPr>
            <a:r>
              <a:t>• Real-time grid carbon intensity tracking</a:t>
            </a:r>
          </a:p>
          <a:p>
            <a:pPr>
              <a:spcBef>
                <a:spcPts val="300"/>
              </a:spcBef>
              <a:defRPr sz="950">
                <a:solidFill>
                  <a:srgbClr val="CBD5E1"/>
                </a:solidFill>
              </a:defRPr>
            </a:pPr>
            <a:r>
              <a:t>• Calculates cumulative avoided CO₂ emissions</a:t>
            </a:r>
          </a:p>
          <a:p>
            <a:pPr>
              <a:spcBef>
                <a:spcPts val="300"/>
              </a:spcBef>
              <a:defRPr sz="950">
                <a:solidFill>
                  <a:srgbClr val="CBD5E1"/>
                </a:solidFill>
              </a:defRPr>
            </a:pPr>
            <a:r>
              <a:t>• Instant SMS &amp; Webhook alert notifications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SOFTWARE &amp; USER EXPERIENCE</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Full-Stack Implementation &amp; Dashboard UI</a:t>
            </a:r>
          </a:p>
        </p:txBody>
      </p:sp>
      <p:sp>
        <p:nvSpPr>
          <p:cNvPr id="4" name="Rounded Rectangle 3"/>
          <p:cNvSpPr/>
          <p:nvPr/>
        </p:nvSpPr>
        <p:spPr>
          <a:xfrm>
            <a:off x="731520" y="1463040"/>
            <a:ext cx="5669280" cy="4754880"/>
          </a:xfrm>
          <a:prstGeom prst="roundRect">
            <a:avLst/>
          </a:prstGeom>
          <a:solidFill>
            <a:srgbClr val="151C2E"/>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06B6D4"/>
                </a:solidFill>
              </a:defRPr>
            </a:pPr>
            <a:r>
              <a:t>⚡ High-Performance FastAPI Backend</a:t>
            </a:r>
          </a:p>
          <a:p>
            <a:pPr>
              <a:spcBef>
                <a:spcPts val="600"/>
              </a:spcBef>
              <a:defRPr b="1" sz="1000">
                <a:solidFill>
                  <a:srgbClr val="F8FAFC"/>
                </a:solidFill>
              </a:defRPr>
            </a:pPr>
            <a:r>
              <a:t>• Asynchronous Architecture: </a:t>
            </a:r>
            <a:r>
              <a:rPr b="0">
                <a:solidFill>
                  <a:srgbClr val="94A3B8"/>
                </a:solidFill>
              </a:rPr>
              <a:t>Built with FastAPI and Uvicorn for sub-millisecond API response latency.</a:t>
            </a:r>
          </a:p>
          <a:p>
            <a:pPr>
              <a:spcBef>
                <a:spcPts val="600"/>
              </a:spcBef>
              <a:defRPr b="1" sz="1000">
                <a:solidFill>
                  <a:srgbClr val="F8FAFC"/>
                </a:solidFill>
              </a:defRPr>
            </a:pPr>
            <a:r>
              <a:t>• REST API Endpoints: </a:t>
            </a:r>
            <a:r>
              <a:rPr b="0">
                <a:solidFill>
                  <a:srgbClr val="94A3B8"/>
                </a:solidFill>
              </a:rPr>
              <a:t>/api/battery, /api/battery/status, /api/battery/backup, /api/energy/allocate, /api/predict/all, /api/xai/explain, /api/copilot/chat.</a:t>
            </a:r>
          </a:p>
          <a:p>
            <a:pPr>
              <a:spcBef>
                <a:spcPts val="600"/>
              </a:spcBef>
              <a:defRPr b="1" sz="1000">
                <a:solidFill>
                  <a:srgbClr val="F8FAFC"/>
                </a:solidFill>
              </a:defRPr>
            </a:pPr>
            <a:r>
              <a:t>• IoT Protocols: </a:t>
            </a:r>
            <a:r>
              <a:rPr b="0">
                <a:solidFill>
                  <a:srgbClr val="94A3B8"/>
                </a:solidFill>
              </a:rPr>
              <a:t>Native support for MQTT pub/sub streams and Modbus-TCP gateway for industrial meter polling.</a:t>
            </a:r>
          </a:p>
          <a:p>
            <a:pPr>
              <a:spcBef>
                <a:spcPts val="600"/>
              </a:spcBef>
              <a:defRPr b="1" sz="1000">
                <a:solidFill>
                  <a:srgbClr val="F8FAFC"/>
                </a:solidFill>
              </a:defRPr>
            </a:pPr>
            <a:r>
              <a:t>• Automated Continuous Retraining: </a:t>
            </a:r>
            <a:r>
              <a:rPr b="0">
                <a:solidFill>
                  <a:srgbClr val="94A3B8"/>
                </a:solidFill>
              </a:rPr>
              <a:t>Background retraining service monitors prediction drift and refits XGBoost and LSTM models automatically.</a:t>
            </a:r>
          </a:p>
        </p:txBody>
      </p:sp>
      <p:sp>
        <p:nvSpPr>
          <p:cNvPr id="6" name="Rounded Rectangle 5"/>
          <p:cNvSpPr/>
          <p:nvPr/>
        </p:nvSpPr>
        <p:spPr>
          <a:xfrm>
            <a:off x="6675120" y="1463040"/>
            <a:ext cx="4754880" cy="4754880"/>
          </a:xfrm>
          <a:prstGeom prst="roundRect">
            <a:avLst/>
          </a:prstGeom>
          <a:solidFill>
            <a:srgbClr val="151C2E"/>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500" b="1">
                <a:solidFill>
                  <a:srgbClr val="F59E0B"/>
                </a:solidFill>
              </a:defRPr>
            </a:pPr>
            <a:r>
              <a:t>✨ Modern Glassmorphic Dashboard UI</a:t>
            </a:r>
          </a:p>
          <a:p>
            <a:pPr>
              <a:spcBef>
                <a:spcPts val="500"/>
              </a:spcBef>
              <a:defRPr b="1" sz="1000">
                <a:solidFill>
                  <a:srgbClr val="F8FAFC"/>
                </a:solidFill>
              </a:defRPr>
            </a:pPr>
            <a:r>
              <a:t>✔ Visual Excellence: </a:t>
            </a:r>
            <a:r>
              <a:rPr b="0">
                <a:solidFill>
                  <a:srgbClr val="94A3B8"/>
                </a:solidFill>
              </a:rPr>
              <a:t>Deep dark mode palette with glassmorphic translucent panels and CSS micro-animations.</a:t>
            </a:r>
          </a:p>
          <a:p>
            <a:pPr>
              <a:spcBef>
                <a:spcPts val="500"/>
              </a:spcBef>
              <a:defRPr b="1" sz="1000">
                <a:solidFill>
                  <a:srgbClr val="F8FAFC"/>
                </a:solidFill>
              </a:defRPr>
            </a:pPr>
            <a:r>
              <a:t>✔ Real-Time Telemetry Cards: </a:t>
            </a:r>
            <a:r>
              <a:rPr b="0">
                <a:solidFill>
                  <a:srgbClr val="94A3B8"/>
                </a:solidFill>
              </a:rPr>
              <a:t>Live gauges for Solar PV, Household Demand, Battery SOC %, and Utility Grid Power.</a:t>
            </a:r>
          </a:p>
          <a:p>
            <a:pPr>
              <a:spcBef>
                <a:spcPts val="500"/>
              </a:spcBef>
              <a:defRPr b="1" sz="1000">
                <a:solidFill>
                  <a:srgbClr val="F8FAFC"/>
                </a:solidFill>
              </a:defRPr>
            </a:pPr>
            <a:r>
              <a:t>✔ Interactive Chart.js Visualizations: </a:t>
            </a:r>
            <a:r>
              <a:rPr b="0">
                <a:solidFill>
                  <a:srgbClr val="94A3B8"/>
                </a:solidFill>
              </a:rPr>
              <a:t>Real-time energy flow Sankey/line charts, lookahead solar curves, and P10/P50/P90 load envelopes.</a:t>
            </a:r>
          </a:p>
          <a:p>
            <a:pPr>
              <a:spcBef>
                <a:spcPts val="500"/>
              </a:spcBef>
              <a:defRPr b="1" sz="1000">
                <a:solidFill>
                  <a:srgbClr val="F8FAFC"/>
                </a:solidFill>
              </a:defRPr>
            </a:pPr>
            <a:r>
              <a:t>✔ AI Energy Copilot: </a:t>
            </a:r>
            <a:r>
              <a:rPr b="0">
                <a:solidFill>
                  <a:srgbClr val="94A3B8"/>
                </a:solidFill>
              </a:rPr>
              <a:t>Embedded conversational assistant for answering questions like 'Why did my bill spike yesterday?'</a:t>
            </a:r>
          </a:p>
          <a:p>
            <a:pPr>
              <a:spcBef>
                <a:spcPts val="500"/>
              </a:spcBef>
              <a:defRPr b="1" sz="1000">
                <a:solidFill>
                  <a:srgbClr val="F8FAFC"/>
                </a:solidFill>
              </a:defRPr>
            </a:pPr>
            <a:r>
              <a:t>✔ One-Click PDF Reports: </a:t>
            </a:r>
            <a:r>
              <a:rPr b="0">
                <a:solidFill>
                  <a:srgbClr val="94A3B8"/>
                </a:solidFill>
              </a:rPr>
              <a:t>Generates detailed PDF energy audits and carbon accounting statements.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QUALITY ASSURANCE</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Experimental Validation &amp; Rigorous Test Suite</a:t>
            </a:r>
          </a:p>
        </p:txBody>
      </p:sp>
      <p:sp>
        <p:nvSpPr>
          <p:cNvPr id="4" name="Rounded Rectangle 3"/>
          <p:cNvSpPr/>
          <p:nvPr/>
        </p:nvSpPr>
        <p:spPr>
          <a:xfrm>
            <a:off x="731520" y="1463040"/>
            <a:ext cx="5669280" cy="4754880"/>
          </a:xfrm>
          <a:prstGeom prst="roundRect">
            <a:avLst/>
          </a:prstGeom>
          <a:solidFill>
            <a:srgbClr val="151C2E"/>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10B981"/>
                </a:solidFill>
              </a:defRPr>
            </a:pPr>
            <a:r>
              <a:t>🧪 Comprehensive Pytest Test Suites</a:t>
            </a:r>
          </a:p>
          <a:p>
            <a:pPr>
              <a:spcBef>
                <a:spcPts val="500"/>
              </a:spcBef>
              <a:defRPr b="1" sz="1000">
                <a:solidFill>
                  <a:srgbClr val="F8FAFC"/>
                </a:solidFill>
              </a:defRPr>
            </a:pPr>
            <a:r>
              <a:t>✔ test_energy_flow.py: </a:t>
            </a:r>
            <a:r>
              <a:rPr b="0">
                <a:solidFill>
                  <a:srgbClr val="94A3B8"/>
                </a:solidFill>
              </a:rPr>
              <a:t>Validates physical energy balance under 100+ edge cases (full solar, zero solar, high load, depleted BESS).</a:t>
            </a:r>
          </a:p>
          <a:p>
            <a:pPr>
              <a:spcBef>
                <a:spcPts val="500"/>
              </a:spcBef>
              <a:defRPr b="1" sz="1000">
                <a:solidFill>
                  <a:srgbClr val="F8FAFC"/>
                </a:solidFill>
              </a:defRPr>
            </a:pPr>
            <a:r>
              <a:t>✔ test_battery_api.py &amp; test_battery_manager.py: </a:t>
            </a:r>
            <a:r>
              <a:rPr b="0">
                <a:solidFill>
                  <a:srgbClr val="94A3B8"/>
                </a:solidFill>
              </a:rPr>
              <a:t>Verifies Enode OAuth2 tokens, connection fallback, zero hallucination on disconnect, and 10-hour backup logic.</a:t>
            </a:r>
          </a:p>
          <a:p>
            <a:pPr>
              <a:spcBef>
                <a:spcPts val="500"/>
              </a:spcBef>
              <a:defRPr b="1" sz="1000">
                <a:solidFill>
                  <a:srgbClr val="F8FAFC"/>
                </a:solidFill>
              </a:defRPr>
            </a:pPr>
            <a:r>
              <a:t>✔ test_prediction_layer.py: </a:t>
            </a:r>
            <a:r>
              <a:rPr b="0">
                <a:solidFill>
                  <a:srgbClr val="94A3B8"/>
                </a:solidFill>
              </a:rPr>
              <a:t>Verifies input tensor shapes, feature scalers, and inference latency for MLP, LSTM, and XGBoost.</a:t>
            </a:r>
          </a:p>
          <a:p>
            <a:pPr>
              <a:spcBef>
                <a:spcPts val="500"/>
              </a:spcBef>
              <a:defRPr b="1" sz="1000">
                <a:solidFill>
                  <a:srgbClr val="F8FAFC"/>
                </a:solidFill>
              </a:defRPr>
            </a:pPr>
            <a:r>
              <a:t>✔ test_dqn_recommendation.py: </a:t>
            </a:r>
            <a:r>
              <a:rPr b="0">
                <a:solidFill>
                  <a:srgbClr val="94A3B8"/>
                </a:solidFill>
              </a:rPr>
              <a:t>Tests reinforcement learning action selection, replay buffer sampling, and convergence.</a:t>
            </a:r>
          </a:p>
          <a:p>
            <a:pPr>
              <a:spcBef>
                <a:spcPts val="500"/>
              </a:spcBef>
              <a:defRPr b="1" sz="1000">
                <a:solidFill>
                  <a:srgbClr val="F8FAFC"/>
                </a:solidFill>
              </a:defRPr>
            </a:pPr>
            <a:r>
              <a:t>✔ test_xai_layer.py &amp; test_notifications.py: </a:t>
            </a:r>
            <a:r>
              <a:rPr b="0">
                <a:solidFill>
                  <a:srgbClr val="94A3B8"/>
                </a:solidFill>
              </a:rPr>
              <a:t>Validates SHAP attribution generation and automated threshold alert dispatch.</a:t>
            </a:r>
          </a:p>
        </p:txBody>
      </p:sp>
      <p:sp>
        <p:nvSpPr>
          <p:cNvPr id="6" name="Rounded Rectangle 5"/>
          <p:cNvSpPr/>
          <p:nvPr/>
        </p:nvSpPr>
        <p:spPr>
          <a:xfrm>
            <a:off x="6675120" y="1463040"/>
            <a:ext cx="4754880" cy="4754880"/>
          </a:xfrm>
          <a:prstGeom prst="roundRect">
            <a:avLst/>
          </a:prstGeom>
          <a:solidFill>
            <a:srgbClr val="151C2E"/>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500" b="1">
                <a:solidFill>
                  <a:srgbClr val="06B6D4"/>
                </a:solidFill>
              </a:defRPr>
            </a:pPr>
            <a:r>
              <a:t>📊 Test Execution Metrics</a:t>
            </a:r>
          </a:p>
        </p:txBody>
      </p:sp>
      <p:sp>
        <p:nvSpPr>
          <p:cNvPr id="8" name="Rounded Rectangle 7"/>
          <p:cNvSpPr/>
          <p:nvPr/>
        </p:nvSpPr>
        <p:spPr>
          <a:xfrm>
            <a:off x="6858000" y="2286000"/>
            <a:ext cx="2103120" cy="100584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2359152"/>
            <a:ext cx="1920239" cy="859536"/>
          </a:xfrm>
          <a:prstGeom prst="rect">
            <a:avLst/>
          </a:prstGeom>
          <a:noFill/>
        </p:spPr>
        <p:txBody>
          <a:bodyPr wrap="square" lIns="0" tIns="0" rIns="0" bIns="0">
            <a:spAutoFit/>
          </a:bodyPr>
          <a:lstStyle/>
          <a:p>
            <a:pPr algn="ctr">
              <a:defRPr sz="1800" b="1">
                <a:solidFill>
                  <a:srgbClr val="10B981"/>
                </a:solidFill>
              </a:defRPr>
            </a:pPr>
            <a:r>
              <a:t>100% PASS</a:t>
            </a:r>
          </a:p>
          <a:p>
            <a:pPr algn="ctr">
              <a:defRPr sz="900" b="1">
                <a:solidFill>
                  <a:srgbClr val="94A3B8"/>
                </a:solidFill>
              </a:defRPr>
            </a:pPr>
            <a:r>
              <a:t>TEST PASS RATE</a:t>
            </a:r>
          </a:p>
        </p:txBody>
      </p:sp>
      <p:sp>
        <p:nvSpPr>
          <p:cNvPr id="10" name="Rounded Rectangle 9"/>
          <p:cNvSpPr/>
          <p:nvPr/>
        </p:nvSpPr>
        <p:spPr>
          <a:xfrm>
            <a:off x="9144000" y="2286000"/>
            <a:ext cx="2103120" cy="100584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0" y="2359152"/>
            <a:ext cx="1920239" cy="859536"/>
          </a:xfrm>
          <a:prstGeom prst="rect">
            <a:avLst/>
          </a:prstGeom>
          <a:noFill/>
        </p:spPr>
        <p:txBody>
          <a:bodyPr wrap="square" lIns="0" tIns="0" rIns="0" bIns="0">
            <a:spAutoFit/>
          </a:bodyPr>
          <a:lstStyle/>
          <a:p>
            <a:pPr algn="ctr">
              <a:defRPr sz="1800" b="1">
                <a:solidFill>
                  <a:srgbClr val="06B6D4"/>
                </a:solidFill>
              </a:defRPr>
            </a:pPr>
            <a:r>
              <a:t>0.000 kW</a:t>
            </a:r>
          </a:p>
          <a:p>
            <a:pPr algn="ctr">
              <a:defRPr sz="900" b="1">
                <a:solidFill>
                  <a:srgbClr val="94A3B8"/>
                </a:solidFill>
              </a:defRPr>
            </a:pPr>
            <a:r>
              <a:t>ENERGY BALANCE ERROR</a:t>
            </a:r>
          </a:p>
        </p:txBody>
      </p:sp>
      <p:sp>
        <p:nvSpPr>
          <p:cNvPr id="12" name="TextBox 11"/>
          <p:cNvSpPr txBox="1"/>
          <p:nvPr/>
        </p:nvSpPr>
        <p:spPr>
          <a:xfrm>
            <a:off x="6858000" y="3474720"/>
            <a:ext cx="4389120" cy="2560320"/>
          </a:xfrm>
          <a:prstGeom prst="rect">
            <a:avLst/>
          </a:prstGeom>
          <a:noFill/>
        </p:spPr>
        <p:txBody>
          <a:bodyPr wrap="square">
            <a:spAutoFit/>
          </a:bodyPr>
          <a:lstStyle/>
          <a:p>
            <a:pPr>
              <a:defRPr b="1" sz="1100">
                <a:solidFill>
                  <a:srgbClr val="F8FAFC"/>
                </a:solidFill>
              </a:defRPr>
            </a:pPr>
            <a:r>
              <a:t>Key Empirical Findings:</a:t>
            </a:r>
          </a:p>
          <a:p>
            <a:pPr>
              <a:spcBef>
                <a:spcPts val="400"/>
              </a:spcBef>
              <a:defRPr sz="950">
                <a:solidFill>
                  <a:srgbClr val="CBD5E1"/>
                </a:solidFill>
              </a:defRPr>
            </a:pPr>
            <a:r>
              <a:t>• 0% Energy Balance Violations across all test runs.</a:t>
            </a:r>
            <a:br/>
            <a:r>
              <a:t>• Inverter C-rate limits strictly adhered to under peak surge.</a:t>
            </a:r>
            <a:br/>
            <a:r>
              <a:t>• Battery depth-of-discharge protected (SOC never dropped below 20%).</a:t>
            </a:r>
            <a:br/>
            <a:r>
              <a:t>• Average end-to-end API allocation latency &lt; 12ms.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000" b="1">
                <a:solidFill>
                  <a:srgbClr val="06B6D4"/>
                </a:solidFill>
              </a:defRPr>
            </a:pPr>
            <a:r>
              <a:t>CONCLUSION &amp; ROADMAP</a:t>
            </a:r>
          </a:p>
        </p:txBody>
      </p:sp>
      <p:sp>
        <p:nvSpPr>
          <p:cNvPr id="3" name="TextBox 2"/>
          <p:cNvSpPr txBox="1"/>
          <p:nvPr/>
        </p:nvSpPr>
        <p:spPr>
          <a:xfrm>
            <a:off x="731520" y="685800"/>
            <a:ext cx="10698480" cy="594360"/>
          </a:xfrm>
          <a:prstGeom prst="rect">
            <a:avLst/>
          </a:prstGeom>
          <a:noFill/>
        </p:spPr>
        <p:txBody>
          <a:bodyPr wrap="square" lIns="0" tIns="0" rIns="0" bIns="0">
            <a:spAutoFit/>
          </a:bodyPr>
          <a:lstStyle/>
          <a:p>
            <a:pPr>
              <a:defRPr sz="2200" b="1">
                <a:solidFill>
                  <a:srgbClr val="F8FAFC"/>
                </a:solidFill>
              </a:defRPr>
            </a:pPr>
            <a:r>
              <a:t>Economic Impact, Conclusion &amp; Future Roadmap</a:t>
            </a:r>
          </a:p>
        </p:txBody>
      </p:sp>
      <p:sp>
        <p:nvSpPr>
          <p:cNvPr id="4" name="Rounded Rectangle 3"/>
          <p:cNvSpPr/>
          <p:nvPr/>
        </p:nvSpPr>
        <p:spPr>
          <a:xfrm>
            <a:off x="731520" y="1463040"/>
            <a:ext cx="5669280" cy="4754880"/>
          </a:xfrm>
          <a:prstGeom prst="roundRect">
            <a:avLst/>
          </a:prstGeom>
          <a:solidFill>
            <a:srgbClr val="151C2E"/>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303520" cy="4389120"/>
          </a:xfrm>
          <a:prstGeom prst="rect">
            <a:avLst/>
          </a:prstGeom>
          <a:noFill/>
        </p:spPr>
        <p:txBody>
          <a:bodyPr wrap="square">
            <a:spAutoFit/>
          </a:bodyPr>
          <a:lstStyle/>
          <a:p>
            <a:pPr>
              <a:defRPr sz="1500" b="1">
                <a:solidFill>
                  <a:srgbClr val="F59E0B"/>
                </a:solidFill>
              </a:defRPr>
            </a:pPr>
            <a:r>
              <a:t>💰 Quantifiable ROI &amp; Impact</a:t>
            </a:r>
          </a:p>
          <a:p>
            <a:pPr>
              <a:spcBef>
                <a:spcPts val="600"/>
              </a:spcBef>
              <a:defRPr b="1" sz="1050">
                <a:solidFill>
                  <a:srgbClr val="F8FAFC"/>
                </a:solidFill>
              </a:defRPr>
            </a:pPr>
            <a:r>
              <a:t>✔ 25% - 40% Utility Bill Reduction: </a:t>
            </a:r>
            <a:r>
              <a:rPr b="0">
                <a:solidFill>
                  <a:srgbClr val="94A3B8"/>
                </a:solidFill>
              </a:rPr>
              <a:t>Through intelligent peak shaving, TNEB slab avoidance, and optimal solar self-consumption.</a:t>
            </a:r>
          </a:p>
          <a:p>
            <a:pPr>
              <a:spcBef>
                <a:spcPts val="600"/>
              </a:spcBef>
              <a:defRPr b="1" sz="1050">
                <a:solidFill>
                  <a:srgbClr val="F8FAFC"/>
                </a:solidFill>
              </a:defRPr>
            </a:pPr>
            <a:r>
              <a:t>✔ 35% Battery Lifetime Extension: </a:t>
            </a:r>
            <a:r>
              <a:rPr b="0">
                <a:solidFill>
                  <a:srgbClr val="94A3B8"/>
                </a:solidFill>
              </a:rPr>
              <a:t>By enforcing strict 20% minimum SOC buffers and avoiding rapid high-temperature micro-cycling.</a:t>
            </a:r>
          </a:p>
          <a:p>
            <a:pPr>
              <a:spcBef>
                <a:spcPts val="600"/>
              </a:spcBef>
              <a:defRPr b="1" sz="1050">
                <a:solidFill>
                  <a:srgbClr val="F8FAFC"/>
                </a:solidFill>
              </a:defRPr>
            </a:pPr>
            <a:r>
              <a:t>✔ 1.8 - 3.2 Tonnes CO₂ Avoided/Year: </a:t>
            </a:r>
            <a:r>
              <a:rPr b="0">
                <a:solidFill>
                  <a:srgbClr val="94A3B8"/>
                </a:solidFill>
              </a:rPr>
              <a:t>Displaces fossil grid power with clean localized solar energy.</a:t>
            </a:r>
          </a:p>
          <a:p>
            <a:pPr>
              <a:spcBef>
                <a:spcPts val="600"/>
              </a:spcBef>
              <a:defRPr b="1" sz="1050">
                <a:solidFill>
                  <a:srgbClr val="F8FAFC"/>
                </a:solidFill>
              </a:defRPr>
            </a:pPr>
            <a:r>
              <a:t>✔ 100% Blackout Peace of Mind: </a:t>
            </a:r>
            <a:r>
              <a:rPr b="0">
                <a:solidFill>
                  <a:srgbClr val="94A3B8"/>
                </a:solidFill>
              </a:rPr>
              <a:t>Dynamic 10-hour backup engine guarantees critical load survival during grid outages.</a:t>
            </a:r>
          </a:p>
        </p:txBody>
      </p:sp>
      <p:sp>
        <p:nvSpPr>
          <p:cNvPr id="6" name="Rounded Rectangle 5"/>
          <p:cNvSpPr/>
          <p:nvPr/>
        </p:nvSpPr>
        <p:spPr>
          <a:xfrm>
            <a:off x="6675120" y="1463040"/>
            <a:ext cx="4754880" cy="4754880"/>
          </a:xfrm>
          <a:prstGeom prst="roundRect">
            <a:avLst/>
          </a:prstGeom>
          <a:solidFill>
            <a:srgbClr val="151C2E"/>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1645920"/>
            <a:ext cx="4389120" cy="4389120"/>
          </a:xfrm>
          <a:prstGeom prst="rect">
            <a:avLst/>
          </a:prstGeom>
          <a:noFill/>
        </p:spPr>
        <p:txBody>
          <a:bodyPr wrap="square">
            <a:spAutoFit/>
          </a:bodyPr>
          <a:lstStyle/>
          <a:p>
            <a:pPr>
              <a:defRPr sz="1500" b="1">
                <a:solidFill>
                  <a:srgbClr val="06B6D4"/>
                </a:solidFill>
              </a:defRPr>
            </a:pPr>
            <a:r>
              <a:t>🚀 Future Technology Roadmap</a:t>
            </a:r>
          </a:p>
          <a:p>
            <a:pPr>
              <a:spcBef>
                <a:spcPts val="600"/>
              </a:spcBef>
              <a:defRPr b="1" sz="1050">
                <a:solidFill>
                  <a:srgbClr val="F8FAFC"/>
                </a:solidFill>
              </a:defRPr>
            </a:pPr>
            <a:r>
              <a:t>➔ Virtual Power Plant (VPP) Aggregation: </a:t>
            </a:r>
            <a:r>
              <a:rPr b="0">
                <a:solidFill>
                  <a:srgbClr val="94A3B8"/>
                </a:solidFill>
              </a:rPr>
              <a:t>Aggregate thousands of SEMS homes into grid-scale frequency regulation assets.</a:t>
            </a:r>
          </a:p>
          <a:p>
            <a:pPr>
              <a:spcBef>
                <a:spcPts val="600"/>
              </a:spcBef>
              <a:defRPr b="1" sz="1050">
                <a:solidFill>
                  <a:srgbClr val="F8FAFC"/>
                </a:solidFill>
              </a:defRPr>
            </a:pPr>
            <a:r>
              <a:t>➔ Bidirectional Vehicle-to-Grid (V2G): </a:t>
            </a:r>
            <a:r>
              <a:rPr b="0">
                <a:solidFill>
                  <a:srgbClr val="94A3B8"/>
                </a:solidFill>
              </a:rPr>
              <a:t>Utilize EV batteries (60-100 kWh) as whole-home power plants during extended blackouts.</a:t>
            </a:r>
          </a:p>
          <a:p>
            <a:pPr>
              <a:spcBef>
                <a:spcPts val="600"/>
              </a:spcBef>
              <a:defRPr b="1" sz="1050">
                <a:solidFill>
                  <a:srgbClr val="F8FAFC"/>
                </a:solidFill>
              </a:defRPr>
            </a:pPr>
            <a:r>
              <a:t>➔ Edge-Embedded AI Acceleration: </a:t>
            </a:r>
            <a:r>
              <a:rPr b="0">
                <a:solidFill>
                  <a:srgbClr val="94A3B8"/>
                </a:solidFill>
              </a:rPr>
              <a:t>Deploy quantized neural models onto local Raspberry Pi / ESP32 edge gateways for zero-cloud resilience.</a:t>
            </a:r>
          </a:p>
          <a:p>
            <a:pPr>
              <a:spcBef>
                <a:spcPts val="600"/>
              </a:spcBef>
              <a:defRPr b="1" sz="1050">
                <a:solidFill>
                  <a:srgbClr val="F8FAFC"/>
                </a:solidFill>
              </a:defRPr>
            </a:pPr>
            <a:r>
              <a:t>➔ Multi-Agent Microgrid Markets: </a:t>
            </a:r>
            <a:r>
              <a:rPr b="0">
                <a:solidFill>
                  <a:srgbClr val="94A3B8"/>
                </a:solidFill>
              </a:rPr>
              <a:t>Blockchain-settled decentralized energy markets with smart contracts.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